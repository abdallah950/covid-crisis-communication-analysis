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embeddedFontLst>
    <p:embeddedFont>
      <p:font typeface="Golos Text"/>
      <p:regular r:id="rId14"/>
      <p:bold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Golos Text SemiBold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M6fniE0TRDtTr0BBoPj1t0T4Y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GolosTextSemiBold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GolosTextSemiBold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GolosText-bold.fntdata"/><Relationship Id="rId14" Type="http://schemas.openxmlformats.org/officeDocument/2006/relationships/font" Target="fonts/GolosText-regular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b30fa2c26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" name="Google Shape;39;g3b30fa2c26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" name="Google Shape;4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" name="Google Shape;6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30fa2c26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g3b30fa2c26e_0_4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30fa2c26e_0_34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g3b30fa2c26e_0_34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g3b30fa2c26e_0_34"/>
          <p:cNvSpPr txBox="1"/>
          <p:nvPr/>
        </p:nvSpPr>
        <p:spPr>
          <a:xfrm>
            <a:off x="6797888" y="653699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g3b30fa2c26e_0_34"/>
          <p:cNvSpPr txBox="1"/>
          <p:nvPr/>
        </p:nvSpPr>
        <p:spPr>
          <a:xfrm>
            <a:off x="7881068" y="569652"/>
            <a:ext cx="24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b30fa2c26e_0_34"/>
          <p:cNvSpPr txBox="1"/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Golos Text SemiBold"/>
              <a:buNone/>
              <a:defRPr sz="43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b30fa2c26e_0_34"/>
          <p:cNvSpPr txBox="1"/>
          <p:nvPr>
            <p:ph idx="1" type="body"/>
          </p:nvPr>
        </p:nvSpPr>
        <p:spPr>
          <a:xfrm>
            <a:off x="609599" y="1386883"/>
            <a:ext cx="11185500" cy="4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  <a:defRPr sz="27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21531" y="635634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27" name="Google Shape;27;p18"/>
          <p:cNvSpPr txBox="1"/>
          <p:nvPr>
            <p:ph idx="1" type="body"/>
          </p:nvPr>
        </p:nvSpPr>
        <p:spPr>
          <a:xfrm>
            <a:off x="421531" y="1157591"/>
            <a:ext cx="11348194" cy="5009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30fa2c26e_0_73"/>
          <p:cNvSpPr txBox="1"/>
          <p:nvPr>
            <p:ph idx="1" type="body"/>
          </p:nvPr>
        </p:nvSpPr>
        <p:spPr>
          <a:xfrm>
            <a:off x="832151" y="1644953"/>
            <a:ext cx="9560100" cy="45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60925" lIns="121900" spcFirstLastPara="1" rIns="121900" wrap="square" tIns="6092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  <a:defRPr sz="21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Golos Text"/>
              <a:buNone/>
              <a:defRPr sz="2100"/>
            </a:lvl5pPr>
            <a:lvl6pPr indent="-3810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indent="-3810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indent="-3810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indent="-3810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/>
        </p:txBody>
      </p:sp>
      <p:sp>
        <p:nvSpPr>
          <p:cNvPr id="30" name="Google Shape;30;g3b30fa2c26e_0_73"/>
          <p:cNvSpPr txBox="1"/>
          <p:nvPr>
            <p:ph type="title"/>
          </p:nvPr>
        </p:nvSpPr>
        <p:spPr>
          <a:xfrm>
            <a:off x="609600" y="408580"/>
            <a:ext cx="9099300" cy="7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300"/>
              <a:buFont typeface="Golos Text SemiBold"/>
              <a:buNone/>
              <a:defRPr sz="43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ctrTitle"/>
          </p:nvPr>
        </p:nvSpPr>
        <p:spPr>
          <a:xfrm>
            <a:off x="1524000" y="2490281"/>
            <a:ext cx="9144000" cy="14757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los Text SemiBold"/>
              <a:buNone/>
              <a:defRPr sz="24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subTitle"/>
          </p:nvPr>
        </p:nvSpPr>
        <p:spPr>
          <a:xfrm>
            <a:off x="5805890" y="4175394"/>
            <a:ext cx="5871990" cy="22796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4" name="Google Shape;34;p17"/>
          <p:cNvSpPr txBox="1"/>
          <p:nvPr/>
        </p:nvSpPr>
        <p:spPr>
          <a:xfrm>
            <a:off x="1524000" y="12308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Golos Text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01.04.02 </a:t>
            </a:r>
            <a:r>
              <a:rPr b="0" i="0" lang="ru-RU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Прикладная математика и информатика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ьный слайд">
  <p:cSld name="Финальный слайд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/>
        </p:nvSpPr>
        <p:spPr>
          <a:xfrm>
            <a:off x="1981200" y="22590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Golos Text SemiBold"/>
              <a:buNone/>
            </a:pPr>
            <a: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Спасибо</a:t>
            </a:r>
            <a:b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</a:br>
            <a:r>
              <a:rPr b="1" i="0" lang="ru-RU" sz="6000" u="none" cap="none" strike="noStrike">
                <a:solidFill>
                  <a:srgbClr val="FFFFFF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за внимание!</a:t>
            </a:r>
            <a:endParaRPr b="1" i="0" sz="6000" u="none" cap="none" strike="noStrike">
              <a:solidFill>
                <a:srgbClr val="FFFFFF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olos Text SemiBold"/>
              <a:buNone/>
              <a:defRPr b="0" i="0" sz="24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b30fa2c26e_0_0"/>
          <p:cNvSpPr txBox="1"/>
          <p:nvPr>
            <p:ph idx="4294967295" type="ctrTitle"/>
          </p:nvPr>
        </p:nvSpPr>
        <p:spPr>
          <a:xfrm>
            <a:off x="1524000" y="2490281"/>
            <a:ext cx="9144000" cy="147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Crisis Communication Effectiveness on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Social Media During COVID-19 Pandemic 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833"/>
              <a:buFont typeface="Arial"/>
              <a:buNone/>
            </a:pPr>
            <a:r>
              <a:rPr lang="ru-RU">
                <a:solidFill>
                  <a:schemeClr val="lt1"/>
                </a:solidFill>
              </a:rPr>
              <a:t>Rebound Periods</a:t>
            </a:r>
            <a:endParaRPr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2" name="Google Shape;42;g3b30fa2c26e_0_0"/>
          <p:cNvSpPr txBox="1"/>
          <p:nvPr>
            <p:ph idx="4294967295" type="subTitle"/>
          </p:nvPr>
        </p:nvSpPr>
        <p:spPr>
          <a:xfrm>
            <a:off x="6936099" y="4383000"/>
            <a:ext cx="5140500" cy="22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Student: </a:t>
            </a:r>
            <a:b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</a:br>
            <a:r>
              <a:rPr lang="ru-RU" sz="1800">
                <a:solidFill>
                  <a:schemeClr val="lt1"/>
                </a:solidFill>
              </a:rPr>
              <a:t>Abdallah Essa,</a:t>
            </a: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Group </a:t>
            </a:r>
            <a:r>
              <a:rPr lang="ru-RU" sz="1800">
                <a:solidFill>
                  <a:schemeClr val="lt1"/>
                </a:solidFill>
              </a:rPr>
              <a:t>J4233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Scientific Supervisor: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>
                <a:solidFill>
                  <a:schemeClr val="lt1"/>
                </a:solidFill>
              </a:rPr>
              <a:t>Sergey V. Kovalchuk,</a:t>
            </a:r>
            <a:r>
              <a:rPr b="0" i="0" lang="ru-RU" sz="18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lang="ru-RU" sz="1800">
                <a:solidFill>
                  <a:schemeClr val="lt1"/>
                </a:solidFill>
              </a:rPr>
              <a:t>Candidate of Technical Sciences, Associate Professor</a:t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lt1"/>
              </a:solidFill>
            </a:endParaRPr>
          </a:p>
          <a:p>
            <a:pPr indent="0" lvl="0" marL="0" marR="0" rtl="0" algn="l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43" name="Google Shape;43;g3b30fa2c26e_0_0"/>
          <p:cNvSpPr txBox="1"/>
          <p:nvPr/>
        </p:nvSpPr>
        <p:spPr>
          <a:xfrm>
            <a:off x="1589625" y="1084500"/>
            <a:ext cx="9441300" cy="5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ru-RU" sz="1800" u="none" cap="none" strike="noStrike">
                <a:solidFill>
                  <a:schemeClr val="lt2"/>
                </a:solidFill>
                <a:latin typeface="Golos Text"/>
                <a:ea typeface="Golos Text"/>
                <a:cs typeface="Golos Text"/>
                <a:sym typeface="Golos Text"/>
              </a:rPr>
              <a:t>01.04.02 Applied Mathematics and Computer Science</a:t>
            </a:r>
            <a:endParaRPr b="0" i="0" sz="1800" u="none" cap="none" strike="noStrike">
              <a:solidFill>
                <a:schemeClr val="lt2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Statement of the Problem</a:t>
            </a:r>
            <a:endParaRPr/>
          </a:p>
        </p:txBody>
      </p:sp>
      <p:sp>
        <p:nvSpPr>
          <p:cNvPr id="49" name="Google Shape;49;p2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pic>
        <p:nvPicPr>
          <p:cNvPr id="50" name="Google Shape;5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6825" y="1173800"/>
            <a:ext cx="7052774" cy="404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2"/>
          <p:cNvSpPr txBox="1"/>
          <p:nvPr/>
        </p:nvSpPr>
        <p:spPr>
          <a:xfrm>
            <a:off x="192575" y="1298000"/>
            <a:ext cx="4643400" cy="52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During COVID-19 pandemic rebound periods:</a:t>
            </a:r>
            <a:endParaRPr b="1"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Public health communicators must reach people fast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Social media is the main channel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But: which messages actually get engagement?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8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Research gap:</a:t>
            </a:r>
            <a:endParaRPr b="1"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Most studies use only ONE method (sentiment)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Most studies skip the Delta rebound (July-Sept 2021)</a:t>
            </a:r>
            <a:endParaRPr sz="16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We need a multi-method study of crisis 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communication during pandemic rebounds.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 txBox="1"/>
          <p:nvPr>
            <p:ph type="title"/>
          </p:nvPr>
        </p:nvSpPr>
        <p:spPr>
          <a:xfrm>
            <a:off x="421957" y="5723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Purpose and Objectives</a:t>
            </a:r>
            <a:endParaRPr/>
          </a:p>
        </p:txBody>
      </p:sp>
      <p:sp>
        <p:nvSpPr>
          <p:cNvPr id="57" name="Google Shape;57;p3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58" name="Google Shape;58;p3"/>
          <p:cNvSpPr txBox="1"/>
          <p:nvPr>
            <p:ph idx="1" type="body"/>
          </p:nvPr>
        </p:nvSpPr>
        <p:spPr>
          <a:xfrm>
            <a:off x="421950" y="1478741"/>
            <a:ext cx="11348100" cy="50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2667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t/>
            </a:r>
            <a:endParaRPr b="1"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b="1" lang="ru-RU"/>
              <a:t>Research Purpose: </a:t>
            </a:r>
            <a:endParaRPr b="1"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1900"/>
              <a:t>Identify which content features predict tweet engagement during the COVID-19 Delta rebound.</a:t>
            </a:r>
            <a:endParaRPr sz="1900"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t/>
            </a:r>
            <a:endParaRPr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b="1" lang="ru-RU"/>
              <a:t>Objectives: </a:t>
            </a:r>
            <a:endParaRPr b="1"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t/>
            </a:r>
            <a:endParaRPr b="1"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/>
              <a:t>1. Build a corpus of vaccine tweets (July-September 2021) </a:t>
            </a:r>
            <a:endParaRPr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/>
              <a:t>2. Apply two sentiment models (VADER and Twitter-RoBERTa) </a:t>
            </a:r>
            <a:endParaRPr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/>
              <a:t>3. Identify topics using BERTopic </a:t>
            </a:r>
            <a:endParaRPr/>
          </a:p>
          <a:p>
            <a:pPr indent="0" lvl="0" marL="1270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/>
              <a:t>4. Test theory with regression models (Negative Binomial and ZINB)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Review of Similar Research</a:t>
            </a:r>
            <a:endParaRPr/>
          </a:p>
        </p:txBody>
      </p:sp>
      <p:sp>
        <p:nvSpPr>
          <p:cNvPr id="64" name="Google Shape;64;p4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65" name="Google Shape;65;p4"/>
          <p:cNvSpPr txBox="1"/>
          <p:nvPr>
            <p:ph idx="1" type="body"/>
          </p:nvPr>
        </p:nvSpPr>
        <p:spPr>
          <a:xfrm>
            <a:off x="421950" y="1337826"/>
            <a:ext cx="11348100" cy="53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700"/>
              <a:t>Three main studies on COVID-19 vaccine tweets: </a:t>
            </a:r>
            <a:br>
              <a:rPr lang="ru-RU" sz="1700"/>
            </a:br>
            <a:endParaRPr sz="17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600"/>
              <a:t>[1] Lyu et al. (2021) </a:t>
            </a:r>
            <a:endParaRPr b="1"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• 1.5M tweets, topic modeling </a:t>
            </a:r>
            <a:endParaRPr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• Limitation: ends before Delta rebound</a:t>
            </a:r>
            <a:br>
              <a:rPr lang="ru-RU" sz="1600"/>
            </a:b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600"/>
              <a:t>[2] Yousefinaghani et al. (2021) </a:t>
            </a:r>
            <a:endParaRPr b="1"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• 4.5M tweets, sentiment analysis only </a:t>
            </a:r>
            <a:endParaRPr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• Limitation: single sentiment tool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600"/>
              <a:t>[3] Xu et al. (2022) </a:t>
            </a:r>
            <a:endParaRPr b="1"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	• Sentiment analysis through Dec 2021 </a:t>
            </a:r>
            <a:endParaRPr sz="1600"/>
          </a:p>
          <a:p>
            <a:pPr indent="45720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• Limitation: no theoretical framework</a:t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ru-RU" sz="1600"/>
              <a:t>Research gap: </a:t>
            </a:r>
            <a:endParaRPr b="1" sz="16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ru-RU" sz="1600"/>
              <a:t>No multi-method study during the Delta rebound with a theoretical model.</a:t>
            </a:r>
            <a:endParaRPr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Research Methods and Tools</a:t>
            </a:r>
            <a:endParaRPr/>
          </a:p>
        </p:txBody>
      </p:sp>
      <p:sp>
        <p:nvSpPr>
          <p:cNvPr id="71" name="Google Shape;71;p5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72" name="Google Shape;72;p5"/>
          <p:cNvSpPr txBox="1"/>
          <p:nvPr>
            <p:ph idx="1" type="body"/>
          </p:nvPr>
        </p:nvSpPr>
        <p:spPr>
          <a:xfrm>
            <a:off x="295775" y="1147175"/>
            <a:ext cx="5095800" cy="24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/>
              <a:t>Data:</a:t>
            </a:r>
            <a:endParaRPr b="1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800"/>
              <a:t>71,845 unique tweets (Kaggle dataset)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ru-RU" sz="1800"/>
              <a:t>Period: July-September 2021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br>
              <a:rPr lang="ru-RU"/>
            </a:br>
            <a:r>
              <a:rPr b="1" lang="ru-RU"/>
              <a:t>Tools: </a:t>
            </a:r>
            <a:r>
              <a:rPr lang="ru-RU" sz="1800"/>
              <a:t>Python, Hugging Face, statsmodels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ru-RU"/>
            </a:b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73" name="Google Shape;73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724" y="3858425"/>
            <a:ext cx="11239501" cy="249237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5"/>
          <p:cNvSpPr txBox="1"/>
          <p:nvPr/>
        </p:nvSpPr>
        <p:spPr>
          <a:xfrm>
            <a:off x="5471025" y="1186875"/>
            <a:ext cx="65643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2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Methods:</a:t>
            </a:r>
            <a:endParaRPr b="1"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Sentiment: VADER + Twitter-RoBERTa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Topics: BERTopic (19 final topics)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Stats: Negative Binomial + ZINB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ru-RU" sz="17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- Medical NER: vaccines + side effects</a:t>
            </a:r>
            <a:endParaRPr sz="17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type="title"/>
          </p:nvPr>
        </p:nvSpPr>
        <p:spPr>
          <a:xfrm>
            <a:off x="421532" y="365126"/>
            <a:ext cx="9218579" cy="65627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The Solution Flow</a:t>
            </a:r>
            <a:endParaRPr i="1">
              <a:highlight>
                <a:srgbClr val="FFFF00"/>
              </a:highlight>
            </a:endParaRPr>
          </a:p>
        </p:txBody>
      </p:sp>
      <p:sp>
        <p:nvSpPr>
          <p:cNvPr id="80" name="Google Shape;80;p9"/>
          <p:cNvSpPr txBox="1"/>
          <p:nvPr>
            <p:ph idx="12" type="sldNum"/>
          </p:nvPr>
        </p:nvSpPr>
        <p:spPr>
          <a:xfrm>
            <a:off x="9027269" y="635081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1" name="Google Shape;81;p9"/>
          <p:cNvSpPr txBox="1"/>
          <p:nvPr>
            <p:ph idx="1" type="body"/>
          </p:nvPr>
        </p:nvSpPr>
        <p:spPr>
          <a:xfrm>
            <a:off x="421956" y="1375141"/>
            <a:ext cx="11348100" cy="51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ru-RU" sz="1150"/>
              <a:t>Step 1: Data Collection</a:t>
            </a:r>
            <a:endParaRPr b="1"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72,847 raw tweets → 71,845 unique tweets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(after Delta rebound filter + deduplication)</a:t>
            </a:r>
            <a:endParaRPr b="1"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br>
              <a:rPr b="1" lang="ru-RU" sz="1150"/>
            </a:br>
            <a:r>
              <a:rPr b="1" lang="ru-RU" sz="1150"/>
              <a:t>Step 2: Feature Engineering</a:t>
            </a:r>
            <a:endParaRPr b="1"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• Sentiment (VADER, RoBERTa)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• Dialogic markers (?, #, @)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• Media richness (URL presence)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• Vaccine brands + side effects</a:t>
            </a:r>
            <a:br>
              <a:rPr lang="ru-RU" sz="1150"/>
            </a:b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b="1" lang="ru-RU" sz="1150"/>
              <a:t>Step 3: Topic Modeling (BERTopic)</a:t>
            </a:r>
            <a:endParaRPr b="1"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105 topics → 19 final topics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Top: Moderna, Covaxin, Pfizer, Sinopharm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br>
              <a:rPr b="1" lang="ru-RU" sz="1150"/>
            </a:br>
            <a:r>
              <a:rPr b="1" lang="ru-RU" sz="1150"/>
              <a:t>Step 4: Statistical Modeling</a:t>
            </a:r>
            <a:endParaRPr b="1"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3 models compared: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Baseline NB → Upgraded NB → Final ZINB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ru-RU" sz="1150"/>
              <a:t>   AIC improvement: 4,348 points</a:t>
            </a:r>
            <a:endParaRPr sz="115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950"/>
              <a:buNone/>
            </a:pPr>
            <a:r>
              <a:t/>
            </a:r>
            <a:endParaRPr sz="1150"/>
          </a:p>
        </p:txBody>
      </p:sp>
      <p:pic>
        <p:nvPicPr>
          <p:cNvPr id="82" name="Google Shape;8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79975" y="1329750"/>
            <a:ext cx="7896800" cy="5240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421532" y="3651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Key Results:</a:t>
            </a:r>
            <a:endParaRPr>
              <a:highlight>
                <a:srgbClr val="FFFF00"/>
              </a:highlight>
            </a:endParaRPr>
          </a:p>
        </p:txBody>
      </p:sp>
      <p:sp>
        <p:nvSpPr>
          <p:cNvPr id="88" name="Google Shape;88;p11"/>
          <p:cNvSpPr txBox="1"/>
          <p:nvPr>
            <p:ph idx="12" type="sldNum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idx="1" type="body"/>
          </p:nvPr>
        </p:nvSpPr>
        <p:spPr>
          <a:xfrm>
            <a:off x="421956" y="1157516"/>
            <a:ext cx="11348100" cy="55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br>
              <a:rPr b="1" lang="ru-RU"/>
            </a:br>
            <a:r>
              <a:rPr b="1" lang="ru-RU"/>
              <a:t>Three main findings: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ru-RU" sz="1871"/>
              <a:t>- </a:t>
            </a:r>
            <a:r>
              <a:rPr b="1" lang="ru-RU" sz="1871"/>
              <a:t>Media Richness: IRR = 4.56</a:t>
            </a:r>
            <a:endParaRPr b="1" sz="187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Tweets with URLs get 4.6× more engagement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(strongest predictor)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8793"/>
              <a:buNone/>
            </a:pPr>
            <a:r>
              <a:rPr b="1" lang="ru-RU" sz="1871"/>
              <a:t>- </a:t>
            </a:r>
            <a:r>
              <a:rPr b="1" lang="ru-RU" sz="1871"/>
              <a:t>Dialogic Markers: All NEGATIVE</a:t>
            </a:r>
            <a:endParaRPr b="1" sz="187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• Questions: -32% engagement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• Hashtags: -13% per hashtag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• Mentions: -12% per mention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8793"/>
              <a:buNone/>
            </a:pPr>
            <a:r>
              <a:rPr b="1" lang="ru-RU" sz="1871"/>
              <a:t>- </a:t>
            </a:r>
            <a:r>
              <a:rPr b="1" lang="ru-RU" sz="1871"/>
              <a:t>Sentiment: IRR = 1.91 (RoBERTa)</a:t>
            </a:r>
            <a:endParaRPr b="1" sz="1871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Positive sentiment increases engagement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ru-RU"/>
              <a:t>   (smaller effect than media richness)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8793"/>
              <a:buFont typeface="Arial"/>
              <a:buNone/>
            </a:pPr>
            <a:r>
              <a:rPr b="1" lang="ru-RU" sz="1871"/>
              <a:t>Code</a:t>
            </a:r>
            <a:r>
              <a:rPr lang="ru-RU"/>
              <a:t>: github.com/AbdAllAh950/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None/>
            </a:pPr>
            <a:r>
              <a:rPr lang="ru-RU"/>
              <a:t>covid-crisis-communication-analysis</a:t>
            </a:r>
            <a:endParaRPr/>
          </a:p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800" y="1466063"/>
            <a:ext cx="6119777" cy="4941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>
            <p:ph type="title"/>
          </p:nvPr>
        </p:nvSpPr>
        <p:spPr>
          <a:xfrm>
            <a:off x="421532" y="365126"/>
            <a:ext cx="92187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</a:pPr>
            <a:r>
              <a:rPr lang="ru-RU"/>
              <a:t>Conclusion</a:t>
            </a:r>
            <a:endParaRPr/>
          </a:p>
        </p:txBody>
      </p:sp>
      <p:sp>
        <p:nvSpPr>
          <p:cNvPr id="96" name="Google Shape;96;p14"/>
          <p:cNvSpPr txBox="1"/>
          <p:nvPr>
            <p:ph idx="12" type="sldNum"/>
          </p:nvPr>
        </p:nvSpPr>
        <p:spPr>
          <a:xfrm>
            <a:off x="9027269" y="635081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  <p:sp>
        <p:nvSpPr>
          <p:cNvPr id="97" name="Google Shape;97;p14"/>
          <p:cNvSpPr txBox="1"/>
          <p:nvPr>
            <p:ph idx="1" type="body"/>
          </p:nvPr>
        </p:nvSpPr>
        <p:spPr>
          <a:xfrm>
            <a:off x="421525" y="1491775"/>
            <a:ext cx="11348100" cy="48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ru-RU" sz="1500"/>
            </a:br>
            <a:r>
              <a:rPr b="1" lang="ru-RU" sz="1500"/>
              <a:t>Three contributions:</a:t>
            </a:r>
            <a:endParaRPr b="1"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ru-RU" sz="1600"/>
            </a:b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500"/>
              <a:t>- </a:t>
            </a:r>
            <a:r>
              <a:rPr b="1" lang="ru-RU" sz="1500"/>
              <a:t>Theoretical:</a:t>
            </a:r>
            <a:endParaRPr b="1"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   • Supports Media Richness Theory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   • Challenges Dialogic Communication Theory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ru-RU" sz="1600"/>
            </a:b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500"/>
              <a:t>- </a:t>
            </a:r>
            <a:r>
              <a:rPr b="1" lang="ru-RU" sz="1500"/>
              <a:t> Methodological:</a:t>
            </a:r>
            <a:endParaRPr b="1"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   • Multi-method pipeline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   • Reproducible code on GitHub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ru-RU" sz="1600"/>
            </a:b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ru-RU" sz="1500"/>
              <a:t>- </a:t>
            </a:r>
            <a:r>
              <a:rPr b="1" lang="ru-RU" sz="1500"/>
              <a:t>Practical:</a:t>
            </a:r>
            <a:endParaRPr b="1"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   Health communicators should use rich content 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   (URLs, images) during crisis rebounds.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ru-RU" sz="1600"/>
            </a:br>
            <a:br>
              <a:rPr lang="ru-RU" sz="1600"/>
            </a:b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ru-RU" sz="1500"/>
              <a:t>Future work:</a:t>
            </a:r>
            <a:endParaRPr b="1" sz="15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Extend to full COVID-19 archive (2020-2023) 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1600"/>
              <a:t>in upcoming PhD research at ITMO.</a:t>
            </a:r>
            <a:endParaRPr sz="1600"/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600"/>
          </a:p>
        </p:txBody>
      </p:sp>
      <p:pic>
        <p:nvPicPr>
          <p:cNvPr id="98" name="Google Shape;9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61925" y="1491775"/>
            <a:ext cx="6508549" cy="4859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b30fa2c26e_0_41"/>
          <p:cNvSpPr txBox="1"/>
          <p:nvPr>
            <p:ph type="title"/>
          </p:nvPr>
        </p:nvSpPr>
        <p:spPr>
          <a:xfrm>
            <a:off x="609600" y="2051125"/>
            <a:ext cx="10972800" cy="16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900"/>
              <a:buFont typeface="Golos Text SemiBold"/>
              <a:buNone/>
            </a:pPr>
            <a:r>
              <a:rPr lang="ru-RU" sz="5900"/>
              <a:t>THANK YOU</a:t>
            </a:r>
            <a:br>
              <a:rPr lang="ru-RU" sz="5900"/>
            </a:br>
            <a:r>
              <a:rPr lang="ru-RU" sz="5900"/>
              <a:t>FOR YOUR TIME!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2025-10-08T10:34:53Z</dcterms:created>
  <dc:creator>Цветкова Екатерина Андреевна</dc:creator>
</cp:coreProperties>
</file>
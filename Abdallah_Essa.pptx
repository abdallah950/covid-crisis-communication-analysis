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y="6858000" cx="12192000"/>
  <p:notesSz cx="6858000" cy="9144000"/>
  <p:embeddedFontLst>
    <p:embeddedFont>
      <p:font typeface="Golos Text"/>
      <p:regular r:id="rId21"/>
      <p:bold r:id="rId22"/>
    </p:embeddedFont>
    <p:embeddedFont>
      <p:font typeface="Montserrat"/>
      <p:regular r:id="rId23"/>
      <p:bold r:id="rId24"/>
      <p:italic r:id="rId25"/>
      <p:boldItalic r:id="rId26"/>
    </p:embeddedFont>
    <p:embeddedFont>
      <p:font typeface="Golos Text SemiBold"/>
      <p:regular r:id="rId27"/>
      <p:bold r:id="rId2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9" roundtripDataSignature="AMtx7mhEhe/fNQly19W77tHOVJOF532VJ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font" Target="fonts/GolosText-bold.fntdata"/><Relationship Id="rId21" Type="http://schemas.openxmlformats.org/officeDocument/2006/relationships/font" Target="fonts/GolosText-regular.fntdata"/><Relationship Id="rId24" Type="http://schemas.openxmlformats.org/officeDocument/2006/relationships/font" Target="fonts/Montserrat-bold.fntdata"/><Relationship Id="rId23" Type="http://schemas.openxmlformats.org/officeDocument/2006/relationships/font" Target="fonts/Montserrat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font" Target="fonts/Montserrat-boldItalic.fntdata"/><Relationship Id="rId25" Type="http://schemas.openxmlformats.org/officeDocument/2006/relationships/font" Target="fonts/Montserrat-italic.fntdata"/><Relationship Id="rId28" Type="http://schemas.openxmlformats.org/officeDocument/2006/relationships/font" Target="fonts/GolosTextSemiBold-bold.fntdata"/><Relationship Id="rId27" Type="http://schemas.openxmlformats.org/officeDocument/2006/relationships/font" Target="fonts/GolosTextSemiBold-regular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customschemas.google.com/relationships/presentationmetadata" Target="metadata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Golos Text SemiBold"/>
              <a:ea typeface="Golos Text SemiBold"/>
              <a:cs typeface="Golos Text SemiBold"/>
              <a:sym typeface="Golos Text SemiBold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9" name="Google Shape;29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5" name="Google Shape;35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2" name="Google Shape;4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9" name="Google Shape;49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6" name="Google Shape;56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920ec8400a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3920ec8400a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g3920ec8400a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920ec8400a_0_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920ec8400a_0_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g3920ec8400a_0_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0" name="Google Shape;80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7" name="Google Shape;8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4" name="Google Shape;94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1" name="Google Shape;101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a30ea3ceee_0_1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9" name="Google Shape;109;g3a30ea3ceee_0_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b38da55f87_0_1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7" name="Google Shape;117;g3b38da55f87_0_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5" name="Google Shape;125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2" name="Google Shape;132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a30bceaa05_0_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9" name="Google Shape;139;g3a30bceaa05_0_3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0" name="Google Shape;140;g3a30bceaa05_0_3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итульный слайд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7"/>
          <p:cNvSpPr txBox="1"/>
          <p:nvPr>
            <p:ph type="ctrTitle"/>
          </p:nvPr>
        </p:nvSpPr>
        <p:spPr>
          <a:xfrm>
            <a:off x="1524000" y="2490281"/>
            <a:ext cx="9144000" cy="14757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Golos Text SemiBold"/>
              <a:buNone/>
              <a:defRPr sz="2400">
                <a:solidFill>
                  <a:schemeClr val="lt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7"/>
          <p:cNvSpPr txBox="1"/>
          <p:nvPr>
            <p:ph idx="1" type="subTitle"/>
          </p:nvPr>
        </p:nvSpPr>
        <p:spPr>
          <a:xfrm>
            <a:off x="5805890" y="4175394"/>
            <a:ext cx="5871990" cy="227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" name="Google Shape;18;p17"/>
          <p:cNvSpPr txBox="1"/>
          <p:nvPr/>
        </p:nvSpPr>
        <p:spPr>
          <a:xfrm>
            <a:off x="1524000" y="1230868"/>
            <a:ext cx="91440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olos Text"/>
              <a:buNone/>
            </a:pPr>
            <a:r>
              <a:rPr b="0" i="0" lang="ru-RU" sz="18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01.04.02 </a:t>
            </a:r>
            <a:r>
              <a:rPr b="0" i="0" lang="ru-RU" sz="18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Прикладная математика и информатика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устой слайд">
  <p:cSld name="Пустой слайд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8"/>
          <p:cNvSpPr txBox="1"/>
          <p:nvPr>
            <p:ph type="title"/>
          </p:nvPr>
        </p:nvSpPr>
        <p:spPr>
          <a:xfrm>
            <a:off x="421532" y="365126"/>
            <a:ext cx="9218579" cy="65627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olos Text SemiBold"/>
              <a:buNone/>
              <a:defRPr sz="32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8"/>
          <p:cNvSpPr txBox="1"/>
          <p:nvPr>
            <p:ph idx="10" type="dt"/>
          </p:nvPr>
        </p:nvSpPr>
        <p:spPr>
          <a:xfrm>
            <a:off x="421531" y="6356349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8"/>
          <p:cNvSpPr txBox="1"/>
          <p:nvPr>
            <p:ph idx="12" type="sldNum"/>
          </p:nvPr>
        </p:nvSpPr>
        <p:spPr>
          <a:xfrm>
            <a:off x="9027269" y="635081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757575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757575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757575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757575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757575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757575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757575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757575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757575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24" name="Google Shape;24;p18"/>
          <p:cNvSpPr txBox="1"/>
          <p:nvPr>
            <p:ph idx="1" type="body"/>
          </p:nvPr>
        </p:nvSpPr>
        <p:spPr>
          <a:xfrm>
            <a:off x="421531" y="1157591"/>
            <a:ext cx="11348194" cy="500974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latin typeface="Golos Text"/>
                <a:ea typeface="Golos Text"/>
                <a:cs typeface="Golos Text"/>
                <a:sym typeface="Golos Text"/>
              </a:defRPr>
            </a:lvl1pPr>
            <a:lvl2pPr indent="-355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>
                <a:latin typeface="Golos Text"/>
                <a:ea typeface="Golos Text"/>
                <a:cs typeface="Golos Text"/>
                <a:sym typeface="Golos Text"/>
              </a:defRPr>
            </a:lvl2pPr>
            <a:lvl3pPr indent="-355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>
                <a:latin typeface="Golos Text"/>
                <a:ea typeface="Golos Text"/>
                <a:cs typeface="Golos Text"/>
                <a:sym typeface="Golos Text"/>
              </a:defRPr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>
                <a:latin typeface="Golos Text"/>
                <a:ea typeface="Golos Text"/>
                <a:cs typeface="Golos Text"/>
                <a:sym typeface="Golos Text"/>
              </a:defRPr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>
                <a:latin typeface="Golos Text"/>
                <a:ea typeface="Golos Text"/>
                <a:cs typeface="Golos Text"/>
                <a:sym typeface="Golos Text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инальный слайд">
  <p:cSld name="Финальный слайд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9"/>
          <p:cNvSpPr txBox="1"/>
          <p:nvPr/>
        </p:nvSpPr>
        <p:spPr>
          <a:xfrm>
            <a:off x="1981200" y="2259013"/>
            <a:ext cx="8229600" cy="6207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Golos Text SemiBold"/>
              <a:buNone/>
            </a:pPr>
            <a:r>
              <a:rPr b="1" i="0" lang="ru-RU" sz="6000" u="none" cap="none" strike="noStrike">
                <a:solidFill>
                  <a:srgbClr val="FFFFFF"/>
                </a:solidFill>
                <a:latin typeface="Golos Text SemiBold"/>
                <a:ea typeface="Golos Text SemiBold"/>
                <a:cs typeface="Golos Text SemiBold"/>
                <a:sym typeface="Golos Text SemiBold"/>
              </a:rPr>
              <a:t>Спасибо</a:t>
            </a:r>
            <a:br>
              <a:rPr b="1" i="0" lang="ru-RU" sz="6000" u="none" cap="none" strike="noStrike">
                <a:solidFill>
                  <a:srgbClr val="FFFFFF"/>
                </a:solidFill>
                <a:latin typeface="Golos Text SemiBold"/>
                <a:ea typeface="Golos Text SemiBold"/>
                <a:cs typeface="Golos Text SemiBold"/>
                <a:sym typeface="Golos Text SemiBold"/>
              </a:rPr>
            </a:br>
            <a:r>
              <a:rPr b="1" i="0" lang="ru-RU" sz="6000" u="none" cap="none" strike="noStrike">
                <a:solidFill>
                  <a:srgbClr val="FFFFFF"/>
                </a:solidFill>
                <a:latin typeface="Golos Text SemiBold"/>
                <a:ea typeface="Golos Text SemiBold"/>
                <a:cs typeface="Golos Text SemiBold"/>
                <a:sym typeface="Golos Text SemiBold"/>
              </a:rPr>
              <a:t>за внимание!</a:t>
            </a:r>
            <a:endParaRPr b="1" i="0" sz="6000" u="none" cap="none" strike="noStrike">
              <a:solidFill>
                <a:srgbClr val="FFFFFF"/>
              </a:solidFill>
              <a:latin typeface="Golos Text SemiBold"/>
              <a:ea typeface="Golos Text SemiBold"/>
              <a:cs typeface="Golos Text SemiBold"/>
              <a:sym typeface="Golos Text SemiBold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olos Text SemiBold"/>
              <a:buNone/>
              <a:defRPr b="0" i="0" sz="2400" u="none" cap="none" strike="noStrike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1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55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indent="-355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indent="-355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indent="-355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/>
        </p:txBody>
      </p:sp>
      <p:sp>
        <p:nvSpPr>
          <p:cNvPr id="12" name="Google Shape;12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/>
        </p:txBody>
      </p:sp>
      <p:sp>
        <p:nvSpPr>
          <p:cNvPr id="13" name="Google Shape;13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/>
        </p:txBody>
      </p:sp>
      <p:sp>
        <p:nvSpPr>
          <p:cNvPr id="14" name="Google Shape;14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"/>
          <p:cNvSpPr txBox="1"/>
          <p:nvPr>
            <p:ph type="ctrTitle"/>
          </p:nvPr>
        </p:nvSpPr>
        <p:spPr>
          <a:xfrm>
            <a:off x="1524000" y="2490281"/>
            <a:ext cx="9144000" cy="14757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7826"/>
              <a:buFont typeface="Arial"/>
              <a:buNone/>
            </a:pPr>
            <a:br>
              <a:rPr b="1" lang="ru-RU" sz="2300">
                <a:latin typeface="Arial"/>
                <a:ea typeface="Arial"/>
                <a:cs typeface="Arial"/>
                <a:sym typeface="Arial"/>
              </a:rPr>
            </a:br>
            <a:r>
              <a:rPr b="1" lang="ru-RU" sz="2300">
                <a:latin typeface="Arial"/>
                <a:ea typeface="Arial"/>
                <a:cs typeface="Arial"/>
                <a:sym typeface="Arial"/>
              </a:rPr>
              <a:t>Crisis Communication Strategy on Social Media During COVID-19 Pandemic Rebound Periods</a:t>
            </a:r>
            <a:endParaRPr b="1" sz="23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Golos Text SemiBold"/>
              <a:buNone/>
            </a:pPr>
            <a:r>
              <a:t/>
            </a:r>
            <a:endParaRPr/>
          </a:p>
        </p:txBody>
      </p:sp>
      <p:sp>
        <p:nvSpPr>
          <p:cNvPr id="32" name="Google Shape;32;p1"/>
          <p:cNvSpPr txBox="1"/>
          <p:nvPr>
            <p:ph idx="1" type="subTitle"/>
          </p:nvPr>
        </p:nvSpPr>
        <p:spPr>
          <a:xfrm>
            <a:off x="5805890" y="4175394"/>
            <a:ext cx="5871990" cy="227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r>
              <a:rPr lang="ru-RU"/>
              <a:t>Student: </a:t>
            </a:r>
            <a:br>
              <a:rPr lang="ru-RU"/>
            </a:br>
            <a:r>
              <a:rPr lang="ru-RU"/>
              <a:t>Abdallah Essa, Group </a:t>
            </a:r>
            <a:r>
              <a:rPr lang="ru-RU"/>
              <a:t>J4233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r>
              <a:rPr lang="ru-RU"/>
              <a:t>Scientific Supervisor: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r>
              <a:rPr lang="ru-RU"/>
              <a:t>Sergey Kovalchuk</a:t>
            </a:r>
            <a:r>
              <a:rPr lang="ru-RU"/>
              <a:t>, PhD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"/>
          <p:cNvSpPr txBox="1"/>
          <p:nvPr>
            <p:ph type="title"/>
          </p:nvPr>
        </p:nvSpPr>
        <p:spPr>
          <a:xfrm>
            <a:off x="421532" y="365126"/>
            <a:ext cx="9218579" cy="65627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olos Text SemiBold"/>
              <a:buNone/>
            </a:pPr>
            <a:r>
              <a:rPr lang="ru-RU"/>
              <a:t>Statement of the Problem</a:t>
            </a:r>
            <a:endParaRPr/>
          </a:p>
        </p:txBody>
      </p:sp>
      <p:sp>
        <p:nvSpPr>
          <p:cNvPr id="38" name="Google Shape;38;p2"/>
          <p:cNvSpPr txBox="1"/>
          <p:nvPr>
            <p:ph idx="12" type="sldNum"/>
          </p:nvPr>
        </p:nvSpPr>
        <p:spPr>
          <a:xfrm>
            <a:off x="9027269" y="635081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39" name="Google Shape;39;p2"/>
          <p:cNvSpPr txBox="1"/>
          <p:nvPr>
            <p:ph idx="1" type="body"/>
          </p:nvPr>
        </p:nvSpPr>
        <p:spPr>
          <a:xfrm>
            <a:off x="421906" y="1415941"/>
            <a:ext cx="11348100" cy="50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619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2100"/>
              <a:buChar char="●"/>
            </a:pPr>
            <a:r>
              <a:rPr b="1" lang="ru-RU" sz="2100">
                <a:latin typeface="Arial"/>
                <a:ea typeface="Arial"/>
                <a:cs typeface="Arial"/>
                <a:sym typeface="Arial"/>
              </a:rPr>
              <a:t>The Core Problem:</a:t>
            </a:r>
            <a:r>
              <a:rPr lang="ru-RU" sz="2100">
                <a:latin typeface="Arial"/>
                <a:ea typeface="Arial"/>
                <a:cs typeface="Arial"/>
                <a:sym typeface="Arial"/>
              </a:rPr>
              <a:t> Some health tweets achieve millions of engagements, while others, even from credible authorities, receive minimal traction</a:t>
            </a:r>
            <a:br>
              <a:rPr lang="ru-RU" sz="2100">
                <a:latin typeface="Arial"/>
                <a:ea typeface="Arial"/>
                <a:cs typeface="Arial"/>
                <a:sym typeface="Arial"/>
              </a:rPr>
            </a:br>
            <a:endParaRPr sz="2100">
              <a:latin typeface="Arial"/>
              <a:ea typeface="Arial"/>
              <a:cs typeface="Arial"/>
              <a:sym typeface="Arial"/>
            </a:endParaRPr>
          </a:p>
          <a:p>
            <a:pPr indent="-3619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100"/>
              <a:buChar char="●"/>
            </a:pPr>
            <a:r>
              <a:rPr b="1" lang="ru-RU" sz="2100">
                <a:latin typeface="Arial"/>
                <a:ea typeface="Arial"/>
                <a:cs typeface="Arial"/>
                <a:sym typeface="Arial"/>
              </a:rPr>
              <a:t>Scientific Gap:</a:t>
            </a:r>
            <a:r>
              <a:rPr lang="ru-RU" sz="2100">
                <a:latin typeface="Arial"/>
                <a:ea typeface="Arial"/>
                <a:cs typeface="Arial"/>
                <a:sym typeface="Arial"/>
              </a:rPr>
              <a:t> Communication theories (Media Richness Theory, Dialogic Communication Theory) predate social media and lack empirical validation in crisis contexts</a:t>
            </a:r>
            <a:br>
              <a:rPr lang="ru-RU" sz="2100">
                <a:latin typeface="Arial"/>
                <a:ea typeface="Arial"/>
                <a:cs typeface="Arial"/>
                <a:sym typeface="Arial"/>
              </a:rPr>
            </a:br>
            <a:endParaRPr sz="2100">
              <a:latin typeface="Arial"/>
              <a:ea typeface="Arial"/>
              <a:cs typeface="Arial"/>
              <a:sym typeface="Arial"/>
            </a:endParaRPr>
          </a:p>
          <a:p>
            <a:pPr indent="-3619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100"/>
              <a:buChar char="●"/>
            </a:pPr>
            <a:r>
              <a:rPr b="1" lang="ru-RU" sz="2100">
                <a:latin typeface="Arial"/>
                <a:ea typeface="Arial"/>
                <a:cs typeface="Arial"/>
                <a:sym typeface="Arial"/>
              </a:rPr>
              <a:t>Practical Relevance:</a:t>
            </a:r>
            <a:r>
              <a:rPr lang="ru-RU" sz="2100">
                <a:latin typeface="Arial"/>
                <a:ea typeface="Arial"/>
                <a:cs typeface="Arial"/>
                <a:sym typeface="Arial"/>
              </a:rPr>
              <a:t> Understanding what drives engagement is critical for effective pandemic response and public health messaging</a:t>
            </a:r>
            <a:br>
              <a:rPr lang="ru-RU" sz="2100">
                <a:latin typeface="Arial"/>
                <a:ea typeface="Arial"/>
                <a:cs typeface="Arial"/>
                <a:sym typeface="Arial"/>
              </a:rPr>
            </a:br>
            <a:endParaRPr sz="2100">
              <a:latin typeface="Arial"/>
              <a:ea typeface="Arial"/>
              <a:cs typeface="Arial"/>
              <a:sym typeface="Arial"/>
            </a:endParaRPr>
          </a:p>
          <a:p>
            <a:pPr indent="-3619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100"/>
              <a:buChar char="●"/>
            </a:pPr>
            <a:r>
              <a:rPr b="1" lang="ru-RU" sz="2100">
                <a:latin typeface="Arial"/>
                <a:ea typeface="Arial"/>
                <a:cs typeface="Arial"/>
                <a:sym typeface="Arial"/>
              </a:rPr>
              <a:t>Scientific Nature:</a:t>
            </a:r>
            <a:r>
              <a:rPr lang="ru-RU" sz="2100">
                <a:latin typeface="Arial"/>
                <a:ea typeface="Arial"/>
                <a:cs typeface="Arial"/>
                <a:sym typeface="Arial"/>
              </a:rPr>
              <a:t> This is a quantitative empirical study testing communication theory predictions with large-scale social media data</a:t>
            </a:r>
            <a:endParaRPr sz="2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t/>
            </a:r>
            <a:endParaRPr b="1" sz="2100">
              <a:solidFill>
                <a:schemeClr val="lt1"/>
              </a:solidFill>
              <a:highlight>
                <a:srgbClr val="0F172A"/>
              </a:highlight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"/>
          <p:cNvSpPr txBox="1"/>
          <p:nvPr>
            <p:ph type="title"/>
          </p:nvPr>
        </p:nvSpPr>
        <p:spPr>
          <a:xfrm>
            <a:off x="421957" y="572326"/>
            <a:ext cx="9218700" cy="65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olos Text SemiBold"/>
              <a:buNone/>
            </a:pPr>
            <a:r>
              <a:rPr lang="ru-RU"/>
              <a:t>Purpose and Objectives</a:t>
            </a:r>
            <a:endParaRPr/>
          </a:p>
        </p:txBody>
      </p:sp>
      <p:sp>
        <p:nvSpPr>
          <p:cNvPr id="45" name="Google Shape;45;p3"/>
          <p:cNvSpPr txBox="1"/>
          <p:nvPr>
            <p:ph idx="12" type="sldNum"/>
          </p:nvPr>
        </p:nvSpPr>
        <p:spPr>
          <a:xfrm>
            <a:off x="9027269" y="635081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46" name="Google Shape;46;p3"/>
          <p:cNvSpPr txBox="1"/>
          <p:nvPr>
            <p:ph idx="1" type="body"/>
          </p:nvPr>
        </p:nvSpPr>
        <p:spPr>
          <a:xfrm>
            <a:off x="421950" y="1478741"/>
            <a:ext cx="11348100" cy="50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br>
              <a:rPr b="1" lang="ru-RU" sz="1800">
                <a:latin typeface="Arial"/>
                <a:ea typeface="Arial"/>
                <a:cs typeface="Arial"/>
                <a:sym typeface="Arial"/>
              </a:rPr>
            </a:br>
            <a:r>
              <a:rPr b="1" lang="ru-RU" sz="1800">
                <a:latin typeface="Arial"/>
                <a:ea typeface="Arial"/>
                <a:cs typeface="Arial"/>
                <a:sym typeface="Arial"/>
              </a:rPr>
              <a:t>Research Purpose:</a:t>
            </a:r>
            <a:r>
              <a:rPr lang="ru-RU" sz="1800">
                <a:latin typeface="Arial"/>
                <a:ea typeface="Arial"/>
                <a:cs typeface="Arial"/>
                <a:sym typeface="Arial"/>
              </a:rPr>
              <a:t> Identify and quantify communication features that drive public engagement with health-related tweets during COVID-19 crises</a:t>
            </a:r>
            <a:br>
              <a:rPr lang="ru-RU" sz="1800">
                <a:latin typeface="Arial"/>
                <a:ea typeface="Arial"/>
                <a:cs typeface="Arial"/>
                <a:sym typeface="Arial"/>
              </a:rPr>
            </a:b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ru-RU" sz="1800">
                <a:latin typeface="Arial"/>
                <a:ea typeface="Arial"/>
                <a:cs typeface="Arial"/>
                <a:sym typeface="Arial"/>
              </a:rPr>
              <a:t>Objectives (Semester 3):</a:t>
            </a:r>
            <a:br>
              <a:rPr b="1" lang="ru-RU" sz="1800">
                <a:latin typeface="Arial"/>
                <a:ea typeface="Arial"/>
                <a:cs typeface="Arial"/>
                <a:sym typeface="Arial"/>
              </a:rPr>
            </a:b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700"/>
              <a:buChar char="●"/>
            </a:pPr>
            <a:r>
              <a:rPr lang="ru-RU" sz="1700">
                <a:latin typeface="Arial"/>
                <a:ea typeface="Arial"/>
                <a:cs typeface="Arial"/>
                <a:sym typeface="Arial"/>
              </a:rPr>
              <a:t>Analyze literature on crisis communication, media richness, and sentiment analysis (Literature Review)</a:t>
            </a:r>
            <a:br>
              <a:rPr lang="ru-RU" sz="1700">
                <a:latin typeface="Arial"/>
                <a:ea typeface="Arial"/>
                <a:cs typeface="Arial"/>
                <a:sym typeface="Arial"/>
              </a:rPr>
            </a:b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ru-RU" sz="1700">
                <a:latin typeface="Arial"/>
                <a:ea typeface="Arial"/>
                <a:cs typeface="Arial"/>
                <a:sym typeface="Arial"/>
              </a:rPr>
              <a:t>Engineer features from 71,845 tweets: media richness, sentiment, dialogue elements</a:t>
            </a:r>
            <a:br>
              <a:rPr lang="ru-RU" sz="1700">
                <a:latin typeface="Arial"/>
                <a:ea typeface="Arial"/>
                <a:cs typeface="Arial"/>
                <a:sym typeface="Arial"/>
              </a:rPr>
            </a:b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ru-RU" sz="1700">
                <a:latin typeface="Arial"/>
                <a:ea typeface="Arial"/>
                <a:cs typeface="Arial"/>
                <a:sym typeface="Arial"/>
              </a:rPr>
              <a:t>Apply Negative Binomial regression to identify predictors of engagement</a:t>
            </a:r>
            <a:br>
              <a:rPr lang="ru-RU" sz="1700">
                <a:latin typeface="Arial"/>
                <a:ea typeface="Arial"/>
                <a:cs typeface="Arial"/>
                <a:sym typeface="Arial"/>
              </a:rPr>
            </a:b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ru-RU" sz="1700">
                <a:latin typeface="Arial"/>
                <a:ea typeface="Arial"/>
                <a:cs typeface="Arial"/>
                <a:sym typeface="Arial"/>
              </a:rPr>
              <a:t>Compare engagement patterns across geographic regions (USA vs. UK)</a:t>
            </a:r>
            <a:br>
              <a:rPr lang="ru-RU" sz="1700">
                <a:latin typeface="Arial"/>
                <a:ea typeface="Arial"/>
                <a:cs typeface="Arial"/>
                <a:sym typeface="Arial"/>
              </a:rPr>
            </a:b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ru-RU" sz="1700">
                <a:latin typeface="Arial"/>
                <a:ea typeface="Arial"/>
                <a:cs typeface="Arial"/>
                <a:sym typeface="Arial"/>
              </a:rPr>
              <a:t>Validate findings with alternative sentiment analysis methods (BERT, RoBERTa)</a:t>
            </a: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-139700" lvl="0" marL="26670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olos Text SemiBold"/>
              <a:buNone/>
            </a:pPr>
            <a:r>
              <a:t/>
            </a:r>
            <a:endParaRPr b="1" sz="18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4"/>
          <p:cNvSpPr txBox="1"/>
          <p:nvPr>
            <p:ph type="title"/>
          </p:nvPr>
        </p:nvSpPr>
        <p:spPr>
          <a:xfrm>
            <a:off x="421532" y="365126"/>
            <a:ext cx="9218579" cy="65627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olos Text SemiBold"/>
              <a:buNone/>
            </a:pPr>
            <a:r>
              <a:rPr lang="ru-RU"/>
              <a:t>Review of Similar Solutions/Research</a:t>
            </a:r>
            <a:endParaRPr/>
          </a:p>
        </p:txBody>
      </p:sp>
      <p:sp>
        <p:nvSpPr>
          <p:cNvPr id="52" name="Google Shape;52;p4"/>
          <p:cNvSpPr txBox="1"/>
          <p:nvPr>
            <p:ph idx="12" type="sldNum"/>
          </p:nvPr>
        </p:nvSpPr>
        <p:spPr>
          <a:xfrm>
            <a:off x="9027269" y="635081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53" name="Google Shape;53;p4"/>
          <p:cNvSpPr txBox="1"/>
          <p:nvPr>
            <p:ph idx="1" type="body"/>
          </p:nvPr>
        </p:nvSpPr>
        <p:spPr>
          <a:xfrm>
            <a:off x="421950" y="1337826"/>
            <a:ext cx="11348100" cy="53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ru-RU" sz="1700">
                <a:latin typeface="Arial"/>
                <a:ea typeface="Arial"/>
                <a:cs typeface="Arial"/>
                <a:sym typeface="Arial"/>
              </a:rPr>
              <a:t>Xu &amp; Zhang (2018) - MH370 Crisis:</a:t>
            </a:r>
            <a:r>
              <a:rPr lang="ru-RU" sz="1700">
                <a:latin typeface="Arial"/>
                <a:ea typeface="Arial"/>
                <a:cs typeface="Arial"/>
                <a:sym typeface="Arial"/>
              </a:rPr>
              <a:t> Media richness multiplied engagement by 1.8×; shows media richness matters in crises</a:t>
            </a:r>
            <a:br>
              <a:rPr lang="ru-RU" sz="1700">
                <a:latin typeface="Arial"/>
                <a:ea typeface="Arial"/>
                <a:cs typeface="Arial"/>
                <a:sym typeface="Arial"/>
              </a:rPr>
            </a:b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ru-RU" sz="1700">
                <a:latin typeface="Arial"/>
                <a:ea typeface="Arial"/>
                <a:cs typeface="Arial"/>
                <a:sym typeface="Arial"/>
              </a:rPr>
              <a:t>Zhang et al. (2022) - Chinese Weibo COVID-19:</a:t>
            </a:r>
            <a:r>
              <a:rPr lang="ru-RU" sz="1700">
                <a:latin typeface="Arial"/>
                <a:ea typeface="Arial"/>
                <a:cs typeface="Arial"/>
                <a:sym typeface="Arial"/>
              </a:rPr>
              <a:t> Dialogue elements (questions +23%, hashtags +15%) increased engagement; contradicts our Twitter findings</a:t>
            </a:r>
            <a:br>
              <a:rPr lang="ru-RU" sz="1700">
                <a:latin typeface="Arial"/>
                <a:ea typeface="Arial"/>
                <a:cs typeface="Arial"/>
                <a:sym typeface="Arial"/>
              </a:rPr>
            </a:b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ru-RU" sz="1700">
                <a:latin typeface="Arial"/>
                <a:ea typeface="Arial"/>
                <a:cs typeface="Arial"/>
                <a:sym typeface="Arial"/>
              </a:rPr>
              <a:t>Ye et al. (2020) - Emotion in COVID-19:</a:t>
            </a:r>
            <a:r>
              <a:rPr lang="ru-RU" sz="1700">
                <a:latin typeface="Arial"/>
                <a:ea typeface="Arial"/>
                <a:cs typeface="Arial"/>
                <a:sym typeface="Arial"/>
              </a:rPr>
              <a:t> Both negative and positive emotions drive engagement, but excessive fear causes panic; shows nuance in sentiment</a:t>
            </a:r>
            <a:br>
              <a:rPr lang="ru-RU" sz="1700">
                <a:latin typeface="Arial"/>
                <a:ea typeface="Arial"/>
                <a:cs typeface="Arial"/>
                <a:sym typeface="Arial"/>
              </a:rPr>
            </a:b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ru-RU" sz="1700">
                <a:latin typeface="Arial"/>
                <a:ea typeface="Arial"/>
                <a:cs typeface="Arial"/>
                <a:sym typeface="Arial"/>
              </a:rPr>
              <a:t>Kent &amp; Taylor (2002) - Dialogic Theory:</a:t>
            </a:r>
            <a:r>
              <a:rPr lang="ru-RU" sz="1700">
                <a:latin typeface="Arial"/>
                <a:ea typeface="Arial"/>
                <a:cs typeface="Arial"/>
                <a:sym typeface="Arial"/>
              </a:rPr>
              <a:t> Dialogue builds relationships in non-crisis organizational contexts; may not apply to acute crises</a:t>
            </a:r>
            <a:br>
              <a:rPr lang="ru-RU" sz="1700">
                <a:latin typeface="Arial"/>
                <a:ea typeface="Arial"/>
                <a:cs typeface="Arial"/>
                <a:sym typeface="Arial"/>
              </a:rPr>
            </a:b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ru-RU" sz="1700">
                <a:latin typeface="Arial"/>
                <a:ea typeface="Arial"/>
                <a:cs typeface="Arial"/>
                <a:sym typeface="Arial"/>
              </a:rPr>
              <a:t>Lamsal (2021) - COVID-19 Twitter Analysis:</a:t>
            </a:r>
            <a:r>
              <a:rPr lang="ru-RU" sz="1700">
                <a:latin typeface="Arial"/>
                <a:ea typeface="Arial"/>
                <a:cs typeface="Arial"/>
                <a:sym typeface="Arial"/>
              </a:rPr>
              <a:t> Pandemic discourse has distinct phases (shock → adaptation → stabilization); suggests temporal dynamics matter</a:t>
            </a:r>
            <a:br>
              <a:rPr lang="ru-RU" sz="1700">
                <a:latin typeface="Arial"/>
                <a:ea typeface="Arial"/>
                <a:cs typeface="Arial"/>
                <a:sym typeface="Arial"/>
              </a:rPr>
            </a:br>
            <a:br>
              <a:rPr b="1" lang="ru-RU" sz="2100">
                <a:latin typeface="Arial"/>
                <a:ea typeface="Arial"/>
                <a:cs typeface="Arial"/>
                <a:sym typeface="Arial"/>
              </a:rPr>
            </a:br>
            <a:r>
              <a:rPr b="1" lang="ru-RU" sz="1500">
                <a:latin typeface="Arial"/>
                <a:ea typeface="Arial"/>
                <a:cs typeface="Arial"/>
                <a:sym typeface="Arial"/>
              </a:rPr>
              <a:t>Gap Justifying Novelty:</a:t>
            </a:r>
            <a:r>
              <a:rPr lang="ru-RU" sz="1500">
                <a:latin typeface="Arial"/>
                <a:ea typeface="Arial"/>
                <a:cs typeface="Arial"/>
                <a:sym typeface="Arial"/>
              </a:rPr>
              <a:t> Prior work lacks large-scale empirical analysis of communication features in pandemic crises; cross-platform comparisons rare; temporal dynamics underexplored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t/>
            </a:r>
            <a:endParaRPr b="1" sz="2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5"/>
          <p:cNvSpPr txBox="1"/>
          <p:nvPr>
            <p:ph type="title"/>
          </p:nvPr>
        </p:nvSpPr>
        <p:spPr>
          <a:xfrm>
            <a:off x="421532" y="365126"/>
            <a:ext cx="9218579" cy="65627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olos Text SemiBold"/>
              <a:buNone/>
            </a:pPr>
            <a:r>
              <a:rPr lang="ru-RU"/>
              <a:t>Research Methods and Tools</a:t>
            </a:r>
            <a:endParaRPr/>
          </a:p>
        </p:txBody>
      </p:sp>
      <p:sp>
        <p:nvSpPr>
          <p:cNvPr id="59" name="Google Shape;59;p5"/>
          <p:cNvSpPr txBox="1"/>
          <p:nvPr>
            <p:ph idx="12" type="sldNum"/>
          </p:nvPr>
        </p:nvSpPr>
        <p:spPr>
          <a:xfrm>
            <a:off x="9027269" y="635081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60" name="Google Shape;60;p5"/>
          <p:cNvSpPr txBox="1"/>
          <p:nvPr>
            <p:ph idx="1" type="body"/>
          </p:nvPr>
        </p:nvSpPr>
        <p:spPr>
          <a:xfrm>
            <a:off x="525156" y="1502354"/>
            <a:ext cx="11348100" cy="50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br>
              <a:rPr b="1" lang="ru-RU" sz="1900">
                <a:latin typeface="Arial"/>
                <a:ea typeface="Arial"/>
                <a:cs typeface="Arial"/>
                <a:sym typeface="Arial"/>
              </a:rPr>
            </a:br>
            <a:r>
              <a:rPr b="1" lang="ru-RU" sz="1900">
                <a:latin typeface="Arial"/>
                <a:ea typeface="Arial"/>
                <a:cs typeface="Arial"/>
                <a:sym typeface="Arial"/>
              </a:rPr>
              <a:t>Methods:</a:t>
            </a:r>
            <a:endParaRPr b="1" sz="1900">
              <a:latin typeface="Arial"/>
              <a:ea typeface="Arial"/>
              <a:cs typeface="Arial"/>
              <a:sym typeface="Arial"/>
            </a:endParaRPr>
          </a:p>
          <a:p>
            <a:pPr indent="-3492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900"/>
              <a:buChar char="●"/>
            </a:pPr>
            <a:r>
              <a:rPr lang="ru-RU" sz="1900">
                <a:latin typeface="Arial"/>
                <a:ea typeface="Arial"/>
                <a:cs typeface="Arial"/>
                <a:sym typeface="Arial"/>
              </a:rPr>
              <a:t>Negative Binomial regression (appropriate for count data with overdispersion)</a:t>
            </a:r>
            <a:endParaRPr sz="1900">
              <a:latin typeface="Arial"/>
              <a:ea typeface="Arial"/>
              <a:cs typeface="Arial"/>
              <a:sym typeface="Arial"/>
            </a:endParaRPr>
          </a:p>
          <a:p>
            <a:pPr indent="-3492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ru-RU" sz="1900">
                <a:latin typeface="Arial"/>
                <a:ea typeface="Arial"/>
                <a:cs typeface="Arial"/>
                <a:sym typeface="Arial"/>
              </a:rPr>
              <a:t>Sentiment analysis using VADER lexicon + transformer validation (BERT, RoBERTa)</a:t>
            </a:r>
            <a:endParaRPr sz="1900">
              <a:latin typeface="Arial"/>
              <a:ea typeface="Arial"/>
              <a:cs typeface="Arial"/>
              <a:sym typeface="Arial"/>
            </a:endParaRPr>
          </a:p>
          <a:p>
            <a:pPr indent="-3492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ru-RU" sz="1900">
                <a:latin typeface="Arial"/>
                <a:ea typeface="Arial"/>
                <a:cs typeface="Arial"/>
                <a:sym typeface="Arial"/>
              </a:rPr>
              <a:t>Feature engineering: binary indicators, frequency counts, temporal aggregation</a:t>
            </a:r>
            <a:br>
              <a:rPr lang="ru-RU" sz="1900">
                <a:latin typeface="Arial"/>
                <a:ea typeface="Arial"/>
                <a:cs typeface="Arial"/>
                <a:sym typeface="Arial"/>
              </a:rPr>
            </a:br>
            <a:endParaRPr sz="19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ru-RU" sz="1900">
                <a:latin typeface="Arial"/>
                <a:ea typeface="Arial"/>
                <a:cs typeface="Arial"/>
                <a:sym typeface="Arial"/>
              </a:rPr>
              <a:t>Tools:</a:t>
            </a:r>
            <a:r>
              <a:rPr lang="ru-RU" sz="1900">
                <a:latin typeface="Arial"/>
                <a:ea typeface="Arial"/>
                <a:cs typeface="Arial"/>
                <a:sym typeface="Arial"/>
              </a:rPr>
              <a:t> Python (scikit-learn, pandas, numpy), VADER SentimentIntensityAnalyzer, Jupyter Notebook</a:t>
            </a:r>
            <a:br>
              <a:rPr lang="ru-RU" sz="1900">
                <a:latin typeface="Arial"/>
                <a:ea typeface="Arial"/>
                <a:cs typeface="Arial"/>
                <a:sym typeface="Arial"/>
              </a:rPr>
            </a:br>
            <a:endParaRPr sz="19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ru-RU" sz="1900">
                <a:latin typeface="Arial"/>
                <a:ea typeface="Arial"/>
                <a:cs typeface="Arial"/>
                <a:sym typeface="Arial"/>
              </a:rPr>
              <a:t>Dataset:</a:t>
            </a:r>
            <a:r>
              <a:rPr lang="ru-RU" sz="1900">
                <a:latin typeface="Arial"/>
                <a:ea typeface="Arial"/>
                <a:cs typeface="Arial"/>
                <a:sym typeface="Arial"/>
              </a:rPr>
              <a:t> "All COVID-19 Vaccines Tweets" (Kaggle, Gabriel Preda); 71,845 English tweets, July–Sept 2021, USA &amp; UK sourced</a:t>
            </a:r>
            <a:br>
              <a:rPr lang="ru-RU" sz="1900">
                <a:latin typeface="Arial"/>
                <a:ea typeface="Arial"/>
                <a:cs typeface="Arial"/>
                <a:sym typeface="Arial"/>
              </a:rPr>
            </a:br>
            <a:endParaRPr sz="19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ru-RU" sz="1900">
                <a:latin typeface="Arial"/>
                <a:ea typeface="Arial"/>
                <a:cs typeface="Arial"/>
                <a:sym typeface="Arial"/>
              </a:rPr>
              <a:t>Data Format:</a:t>
            </a:r>
            <a:r>
              <a:rPr lang="ru-RU" sz="1900">
                <a:latin typeface="Arial"/>
                <a:ea typeface="Arial"/>
                <a:cs typeface="Arial"/>
                <a:sym typeface="Arial"/>
              </a:rPr>
              <a:t> Tweet text, timestamp, user location, engagement metrics (likes, retweets)</a:t>
            </a:r>
            <a:endParaRPr sz="19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2900"/>
          </a:p>
          <a:p>
            <a:pPr indent="0" lvl="0" marL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t/>
            </a:r>
            <a:endParaRPr sz="2900"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t/>
            </a:r>
            <a:endParaRPr sz="29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920ec8400a_0_0"/>
          <p:cNvSpPr txBox="1"/>
          <p:nvPr>
            <p:ph type="title"/>
          </p:nvPr>
        </p:nvSpPr>
        <p:spPr>
          <a:xfrm>
            <a:off x="421532" y="365126"/>
            <a:ext cx="9218700" cy="6564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b="1" lang="ru-RU">
                <a:latin typeface="Arial"/>
                <a:ea typeface="Arial"/>
                <a:cs typeface="Arial"/>
                <a:sym typeface="Arial"/>
              </a:rPr>
              <a:t>Feature Engineering Pipelin</a:t>
            </a:r>
            <a:r>
              <a:rPr b="1" lang="ru-RU">
                <a:latin typeface="Arial"/>
                <a:ea typeface="Arial"/>
                <a:cs typeface="Arial"/>
                <a:sym typeface="Arial"/>
              </a:rPr>
              <a:t>e</a:t>
            </a:r>
            <a:endParaRPr/>
          </a:p>
        </p:txBody>
      </p:sp>
      <p:sp>
        <p:nvSpPr>
          <p:cNvPr id="67" name="Google Shape;67;g3920ec8400a_0_0"/>
          <p:cNvSpPr txBox="1"/>
          <p:nvPr>
            <p:ph idx="12" type="sldNum"/>
          </p:nvPr>
        </p:nvSpPr>
        <p:spPr>
          <a:xfrm>
            <a:off x="9027269" y="6350810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68" name="Google Shape;68;g3920ec8400a_0_0"/>
          <p:cNvSpPr txBox="1"/>
          <p:nvPr>
            <p:ph idx="1" type="body"/>
          </p:nvPr>
        </p:nvSpPr>
        <p:spPr>
          <a:xfrm>
            <a:off x="421531" y="1157591"/>
            <a:ext cx="11348100" cy="50097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ru-RU" sz="1900">
                <a:latin typeface="Arial"/>
                <a:ea typeface="Arial"/>
                <a:cs typeface="Arial"/>
                <a:sym typeface="Arial"/>
              </a:rPr>
              <a:t>Data Processing Steps:</a:t>
            </a:r>
            <a:endParaRPr b="1" sz="1900">
              <a:latin typeface="Arial"/>
              <a:ea typeface="Arial"/>
              <a:cs typeface="Arial"/>
              <a:sym typeface="Arial"/>
            </a:endParaRPr>
          </a:p>
          <a:p>
            <a:pPr indent="-3492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900"/>
              <a:buChar char="●"/>
            </a:pPr>
            <a:r>
              <a:rPr b="1" lang="ru-RU" sz="1900">
                <a:latin typeface="Arial"/>
                <a:ea typeface="Arial"/>
                <a:cs typeface="Arial"/>
                <a:sym typeface="Arial"/>
              </a:rPr>
              <a:t>Input:</a:t>
            </a:r>
            <a:r>
              <a:rPr lang="ru-RU" sz="1900">
                <a:latin typeface="Arial"/>
                <a:ea typeface="Arial"/>
                <a:cs typeface="Arial"/>
                <a:sym typeface="Arial"/>
              </a:rPr>
              <a:t> 71,845 raw tweets (text, timestamp, location, engagement)</a:t>
            </a:r>
            <a:br>
              <a:rPr lang="ru-RU" sz="1900">
                <a:latin typeface="Arial"/>
                <a:ea typeface="Arial"/>
                <a:cs typeface="Arial"/>
                <a:sym typeface="Arial"/>
              </a:rPr>
            </a:br>
            <a:endParaRPr sz="1900">
              <a:latin typeface="Arial"/>
              <a:ea typeface="Arial"/>
              <a:cs typeface="Arial"/>
              <a:sym typeface="Arial"/>
            </a:endParaRPr>
          </a:p>
          <a:p>
            <a:pPr indent="-3492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b="1" lang="ru-RU" sz="1900">
                <a:latin typeface="Arial"/>
                <a:ea typeface="Arial"/>
                <a:cs typeface="Arial"/>
                <a:sym typeface="Arial"/>
              </a:rPr>
              <a:t>Text Preprocessing:</a:t>
            </a:r>
            <a:r>
              <a:rPr lang="ru-RU" sz="1900">
                <a:latin typeface="Arial"/>
                <a:ea typeface="Arial"/>
                <a:cs typeface="Arial"/>
                <a:sym typeface="Arial"/>
              </a:rPr>
              <a:t> Lowercasing, tokenization, URL/mention extraction, punctuation normalization</a:t>
            </a:r>
            <a:br>
              <a:rPr lang="ru-RU" sz="1900">
                <a:latin typeface="Arial"/>
                <a:ea typeface="Arial"/>
                <a:cs typeface="Arial"/>
                <a:sym typeface="Arial"/>
              </a:rPr>
            </a:br>
            <a:endParaRPr sz="1900">
              <a:latin typeface="Arial"/>
              <a:ea typeface="Arial"/>
              <a:cs typeface="Arial"/>
              <a:sym typeface="Arial"/>
            </a:endParaRPr>
          </a:p>
          <a:p>
            <a:pPr indent="-3492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b="1" lang="ru-RU" sz="1900">
                <a:latin typeface="Arial"/>
                <a:ea typeface="Arial"/>
                <a:cs typeface="Arial"/>
                <a:sym typeface="Arial"/>
              </a:rPr>
              <a:t>Media Richness:</a:t>
            </a:r>
            <a:r>
              <a:rPr lang="ru-RU" sz="1900">
                <a:latin typeface="Arial"/>
                <a:ea typeface="Arial"/>
                <a:cs typeface="Arial"/>
                <a:sym typeface="Arial"/>
              </a:rPr>
              <a:t> Binary encoding = has_url OR has_image OR has_video (1 if present, 0 otherwise)</a:t>
            </a:r>
            <a:br>
              <a:rPr lang="ru-RU" sz="1900">
                <a:latin typeface="Arial"/>
                <a:ea typeface="Arial"/>
                <a:cs typeface="Arial"/>
                <a:sym typeface="Arial"/>
              </a:rPr>
            </a:br>
            <a:endParaRPr sz="1900">
              <a:latin typeface="Arial"/>
              <a:ea typeface="Arial"/>
              <a:cs typeface="Arial"/>
              <a:sym typeface="Arial"/>
            </a:endParaRPr>
          </a:p>
          <a:p>
            <a:pPr indent="-3492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b="1" lang="ru-RU" sz="1900">
                <a:latin typeface="Arial"/>
                <a:ea typeface="Arial"/>
                <a:cs typeface="Arial"/>
                <a:sym typeface="Arial"/>
              </a:rPr>
              <a:t>Sentiment:</a:t>
            </a:r>
            <a:r>
              <a:rPr lang="ru-RU" sz="1900">
                <a:latin typeface="Arial"/>
                <a:ea typeface="Arial"/>
                <a:cs typeface="Arial"/>
                <a:sym typeface="Arial"/>
              </a:rPr>
              <a:t> VADER compound score ∈ [-1, +1]; validated with BERT/RoBERTa</a:t>
            </a:r>
            <a:br>
              <a:rPr lang="ru-RU" sz="1900">
                <a:latin typeface="Arial"/>
                <a:ea typeface="Arial"/>
                <a:cs typeface="Arial"/>
                <a:sym typeface="Arial"/>
              </a:rPr>
            </a:br>
            <a:endParaRPr sz="1900">
              <a:latin typeface="Arial"/>
              <a:ea typeface="Arial"/>
              <a:cs typeface="Arial"/>
              <a:sym typeface="Arial"/>
            </a:endParaRPr>
          </a:p>
          <a:p>
            <a:pPr indent="-3492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b="1" lang="ru-RU" sz="1900">
                <a:latin typeface="Arial"/>
                <a:ea typeface="Arial"/>
                <a:cs typeface="Arial"/>
                <a:sym typeface="Arial"/>
              </a:rPr>
              <a:t>Dialogue Elements:</a:t>
            </a:r>
            <a:r>
              <a:rPr lang="ru-RU" sz="1900">
                <a:latin typeface="Arial"/>
                <a:ea typeface="Arial"/>
                <a:cs typeface="Arial"/>
                <a:sym typeface="Arial"/>
              </a:rPr>
              <a:t> count(question_marks), count(hashtags), count(@mentions), count(words)</a:t>
            </a:r>
            <a:br>
              <a:rPr lang="ru-RU" sz="1900">
                <a:latin typeface="Arial"/>
                <a:ea typeface="Arial"/>
                <a:cs typeface="Arial"/>
                <a:sym typeface="Arial"/>
              </a:rPr>
            </a:br>
            <a:endParaRPr sz="1900">
              <a:latin typeface="Arial"/>
              <a:ea typeface="Arial"/>
              <a:cs typeface="Arial"/>
              <a:sym typeface="Arial"/>
            </a:endParaRPr>
          </a:p>
          <a:p>
            <a:pPr indent="-3492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b="1" lang="ru-RU" sz="1900">
                <a:latin typeface="Arial"/>
                <a:ea typeface="Arial"/>
                <a:cs typeface="Arial"/>
                <a:sym typeface="Arial"/>
              </a:rPr>
              <a:t>Output:</a:t>
            </a:r>
            <a:r>
              <a:rPr lang="ru-RU" sz="1900">
                <a:latin typeface="Arial"/>
                <a:ea typeface="Arial"/>
                <a:cs typeface="Arial"/>
                <a:sym typeface="Arial"/>
              </a:rPr>
              <a:t> Clean feature matrix: 71,845 observations × 8 features, ready for regression</a:t>
            </a:r>
            <a:endParaRPr sz="19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9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920ec8400a_0_7"/>
          <p:cNvSpPr txBox="1"/>
          <p:nvPr>
            <p:ph type="title"/>
          </p:nvPr>
        </p:nvSpPr>
        <p:spPr>
          <a:xfrm>
            <a:off x="421532" y="365126"/>
            <a:ext cx="9218700" cy="6564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3100">
                <a:latin typeface="Arial"/>
                <a:ea typeface="Arial"/>
                <a:cs typeface="Arial"/>
                <a:sym typeface="Arial"/>
              </a:rPr>
              <a:t>Negative Binomial Regression: Model Details</a:t>
            </a:r>
            <a:endParaRPr b="1" sz="3100">
              <a:solidFill>
                <a:srgbClr val="38BDF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g3920ec8400a_0_7"/>
          <p:cNvSpPr txBox="1"/>
          <p:nvPr>
            <p:ph idx="12" type="sldNum"/>
          </p:nvPr>
        </p:nvSpPr>
        <p:spPr>
          <a:xfrm>
            <a:off x="9027269" y="6350810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76" name="Google Shape;76;g3920ec8400a_0_7"/>
          <p:cNvSpPr txBox="1"/>
          <p:nvPr>
            <p:ph idx="1" type="body"/>
          </p:nvPr>
        </p:nvSpPr>
        <p:spPr>
          <a:xfrm>
            <a:off x="421531" y="1157591"/>
            <a:ext cx="11348100" cy="50097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9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ru-RU" sz="1900">
                <a:latin typeface="Arial"/>
                <a:ea typeface="Arial"/>
                <a:cs typeface="Arial"/>
                <a:sym typeface="Arial"/>
              </a:rPr>
              <a:t>Why Negative Binomial?</a:t>
            </a:r>
            <a:r>
              <a:rPr lang="ru-RU" sz="1900">
                <a:latin typeface="Arial"/>
                <a:ea typeface="Arial"/>
                <a:cs typeface="Arial"/>
                <a:sym typeface="Arial"/>
              </a:rPr>
              <a:t> Engagement (likes + retweets) is count data with extreme right skew (0–100,000+) and overdispersion; violates Poisson assumptions</a:t>
            </a:r>
            <a:endParaRPr sz="19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1900">
                <a:latin typeface="Arial"/>
                <a:ea typeface="Arial"/>
                <a:cs typeface="Arial"/>
                <a:sym typeface="Arial"/>
              </a:rPr>
              <a:t>Model Specification:</a:t>
            </a:r>
            <a:r>
              <a:rPr lang="ru-RU" sz="1900">
                <a:latin typeface="Arial"/>
                <a:ea typeface="Arial"/>
                <a:cs typeface="Arial"/>
                <a:sym typeface="Arial"/>
              </a:rPr>
              <a:t> NB2 model with log link</a:t>
            </a:r>
            <a:endParaRPr sz="19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1800">
                <a:latin typeface="Arial"/>
                <a:ea typeface="Arial"/>
                <a:cs typeface="Arial"/>
                <a:sym typeface="Arial"/>
              </a:rPr>
              <a:t>Key Coefficients (Semester 3):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ru-RU" sz="1800">
                <a:latin typeface="Arial"/>
                <a:ea typeface="Arial"/>
                <a:cs typeface="Arial"/>
                <a:sym typeface="Arial"/>
              </a:rPr>
              <a:t>β_media = 1.36 (p&lt;0.001) → exp(1.36) = 3.9× engagement multiplier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ru-RU" sz="1800">
                <a:latin typeface="Arial"/>
                <a:ea typeface="Arial"/>
                <a:cs typeface="Arial"/>
                <a:sym typeface="Arial"/>
              </a:rPr>
              <a:t>β_sentiment = 0.27 (p&lt;0.001) → exp(0.27) = 1.31× per unit positivity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ru-RU" sz="1800">
                <a:latin typeface="Arial"/>
                <a:ea typeface="Arial"/>
                <a:cs typeface="Arial"/>
                <a:sym typeface="Arial"/>
              </a:rPr>
              <a:t>β_questions = -0.43 (p&lt;0.001) → exp(-0.43) = 65% reduction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ru-RU" sz="1800">
                <a:latin typeface="Arial"/>
                <a:ea typeface="Arial"/>
                <a:cs typeface="Arial"/>
                <a:sym typeface="Arial"/>
              </a:rPr>
              <a:t>Overdispersion α = 2.15 (p&lt;0.001) confirms NB is appropriate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ru-RU" sz="1800">
                <a:latin typeface="Arial"/>
                <a:ea typeface="Arial"/>
                <a:cs typeface="Arial"/>
                <a:sym typeface="Arial"/>
              </a:rPr>
              <a:t>Pseudo-R² = 0.34 (McFadden), AIC = 123,456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9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7" name="Google Shape;77;g3920ec8400a_0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4525" y="2583400"/>
            <a:ext cx="11087775" cy="660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6"/>
          <p:cNvSpPr txBox="1"/>
          <p:nvPr>
            <p:ph type="title"/>
          </p:nvPr>
        </p:nvSpPr>
        <p:spPr>
          <a:xfrm>
            <a:off x="421907" y="448001"/>
            <a:ext cx="9218700" cy="65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Golos Text SemiBold"/>
              <a:buNone/>
            </a:pPr>
            <a:r>
              <a:rPr lang="ru-RU"/>
              <a:t>Scientific Novelty (assessed on the basis of a scientific project)</a:t>
            </a:r>
            <a:endParaRPr/>
          </a:p>
        </p:txBody>
      </p:sp>
      <p:sp>
        <p:nvSpPr>
          <p:cNvPr id="83" name="Google Shape;83;p6"/>
          <p:cNvSpPr txBox="1"/>
          <p:nvPr>
            <p:ph idx="1" type="body"/>
          </p:nvPr>
        </p:nvSpPr>
        <p:spPr>
          <a:xfrm>
            <a:off x="421956" y="1634141"/>
            <a:ext cx="11348100" cy="50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br>
              <a:rPr b="1" lang="ru-RU" sz="1800">
                <a:latin typeface="Arial"/>
                <a:ea typeface="Arial"/>
                <a:cs typeface="Arial"/>
                <a:sym typeface="Arial"/>
              </a:rPr>
            </a:br>
            <a:r>
              <a:rPr b="1" lang="ru-RU" sz="1800">
                <a:latin typeface="Arial"/>
                <a:ea typeface="Arial"/>
                <a:cs typeface="Arial"/>
                <a:sym typeface="Arial"/>
              </a:rPr>
              <a:t>Novel Contribution 1 (Methodology):</a:t>
            </a:r>
            <a:r>
              <a:rPr lang="ru-RU" sz="1800">
                <a:latin typeface="Arial"/>
                <a:ea typeface="Arial"/>
                <a:cs typeface="Arial"/>
                <a:sym typeface="Arial"/>
              </a:rPr>
              <a:t> First large-scale empirical test of Media Richness Theory and Dialogic Communication Theory in pandemic contexts; effect sizes (3.9× media richness multiplier) substantially exceed prior estimates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br>
              <a:rPr b="1" lang="ru-RU" sz="1800">
                <a:latin typeface="Arial"/>
                <a:ea typeface="Arial"/>
                <a:cs typeface="Arial"/>
                <a:sym typeface="Arial"/>
              </a:rPr>
            </a:br>
            <a:r>
              <a:rPr b="1" lang="ru-RU" sz="1800">
                <a:latin typeface="Arial"/>
                <a:ea typeface="Arial"/>
                <a:cs typeface="Arial"/>
                <a:sym typeface="Arial"/>
              </a:rPr>
              <a:t>Novel Contribution 2 (Theory):</a:t>
            </a:r>
            <a:r>
              <a:rPr lang="ru-RU" sz="1800">
                <a:latin typeface="Arial"/>
                <a:ea typeface="Arial"/>
                <a:cs typeface="Arial"/>
                <a:sym typeface="Arial"/>
              </a:rPr>
              <a:t> Demonstrates that Dialogic Communication Theory predictions fail in acute crises—dialogue decreases engagement, contradicting decades of organizational communication scholarship; suggests context-dependent theory needed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br>
              <a:rPr b="1" lang="ru-RU" sz="1800">
                <a:latin typeface="Arial"/>
                <a:ea typeface="Arial"/>
                <a:cs typeface="Arial"/>
                <a:sym typeface="Arial"/>
              </a:rPr>
            </a:br>
            <a:r>
              <a:rPr b="1" lang="ru-RU" sz="1800">
                <a:latin typeface="Arial"/>
                <a:ea typeface="Arial"/>
                <a:cs typeface="Arial"/>
                <a:sym typeface="Arial"/>
              </a:rPr>
              <a:t>Novel Contribution 3 (Insights):</a:t>
            </a:r>
            <a:r>
              <a:rPr lang="ru-RU" sz="1800">
                <a:latin typeface="Arial"/>
                <a:ea typeface="Arial"/>
                <a:cs typeface="Arial"/>
                <a:sym typeface="Arial"/>
              </a:rPr>
              <a:t> Cross-platform/cross-national analysis reveals institutional structure (centralized NHS vs. fragmented USA health system) fundamentally changes communication effectiveness; explains contradictions between Chinese Weibo and Western Twitter studies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br>
              <a:rPr b="1" lang="ru-RU" sz="1800">
                <a:latin typeface="Arial"/>
                <a:ea typeface="Arial"/>
                <a:cs typeface="Arial"/>
                <a:sym typeface="Arial"/>
              </a:rPr>
            </a:br>
            <a:r>
              <a:rPr b="1" lang="ru-RU" sz="1800">
                <a:latin typeface="Arial"/>
                <a:ea typeface="Arial"/>
                <a:cs typeface="Arial"/>
                <a:sym typeface="Arial"/>
              </a:rPr>
              <a:t>Practical Impact:</a:t>
            </a:r>
            <a:r>
              <a:rPr lang="ru-RU" sz="1800">
                <a:latin typeface="Arial"/>
                <a:ea typeface="Arial"/>
                <a:cs typeface="Arial"/>
                <a:sym typeface="Arial"/>
              </a:rPr>
              <a:t> Findings inform pandemic response strategies; media richness prioritization could improve communication resource allocation; refines theory for future crises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b="1" sz="25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b="1" sz="2500">
              <a:solidFill>
                <a:srgbClr val="38BDF8"/>
              </a:solidFill>
              <a:highlight>
                <a:srgbClr val="0F172A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6"/>
          <p:cNvSpPr txBox="1"/>
          <p:nvPr>
            <p:ph idx="12" type="sldNum"/>
          </p:nvPr>
        </p:nvSpPr>
        <p:spPr>
          <a:xfrm>
            <a:off x="9027269" y="635081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9"/>
          <p:cNvSpPr txBox="1"/>
          <p:nvPr>
            <p:ph type="title"/>
          </p:nvPr>
        </p:nvSpPr>
        <p:spPr>
          <a:xfrm>
            <a:off x="421532" y="365126"/>
            <a:ext cx="9218579" cy="65627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olos Text SemiBold"/>
              <a:buNone/>
            </a:pPr>
            <a:r>
              <a:rPr lang="ru-RU" sz="2800"/>
              <a:t>The Solution Flow: </a:t>
            </a:r>
            <a:r>
              <a:rPr b="1" lang="ru-RU" sz="2800">
                <a:latin typeface="Arial"/>
                <a:ea typeface="Arial"/>
                <a:cs typeface="Arial"/>
                <a:sym typeface="Arial"/>
              </a:rPr>
              <a:t>Data Preparation &amp; Feature Engineering</a:t>
            </a:r>
            <a:endParaRPr sz="2800"/>
          </a:p>
        </p:txBody>
      </p:sp>
      <p:sp>
        <p:nvSpPr>
          <p:cNvPr id="90" name="Google Shape;90;p9"/>
          <p:cNvSpPr txBox="1"/>
          <p:nvPr>
            <p:ph idx="12" type="sldNum"/>
          </p:nvPr>
        </p:nvSpPr>
        <p:spPr>
          <a:xfrm>
            <a:off x="9027269" y="635081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91" name="Google Shape;91;p9"/>
          <p:cNvSpPr txBox="1"/>
          <p:nvPr>
            <p:ph idx="1" type="body"/>
          </p:nvPr>
        </p:nvSpPr>
        <p:spPr>
          <a:xfrm>
            <a:off x="421956" y="1375141"/>
            <a:ext cx="11348100" cy="5193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2500" lnSpcReduction="20000"/>
          </a:bodyPr>
          <a:lstStyle/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35483"/>
              <a:buNone/>
            </a:pPr>
            <a:r>
              <a:t/>
            </a:r>
            <a:endParaRPr b="1" sz="3100"/>
          </a:p>
          <a:p>
            <a:pPr indent="-351948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b="1" lang="ru-RU" sz="2100">
                <a:latin typeface="Arial"/>
                <a:ea typeface="Arial"/>
                <a:cs typeface="Arial"/>
                <a:sym typeface="Arial"/>
              </a:rPr>
              <a:t>Data Collection:</a:t>
            </a:r>
            <a:r>
              <a:rPr lang="ru-RU" sz="2100">
                <a:latin typeface="Arial"/>
                <a:ea typeface="Arial"/>
                <a:cs typeface="Arial"/>
                <a:sym typeface="Arial"/>
              </a:rPr>
              <a:t> 71,845 English vaccine tweets extracted from Kaggle dataset (July 1 – Sept 30, 2021)</a:t>
            </a:r>
            <a:br>
              <a:rPr lang="ru-RU" sz="2100">
                <a:latin typeface="Arial"/>
                <a:ea typeface="Arial"/>
                <a:cs typeface="Arial"/>
                <a:sym typeface="Arial"/>
              </a:rPr>
            </a:br>
            <a:endParaRPr sz="2100">
              <a:latin typeface="Arial"/>
              <a:ea typeface="Arial"/>
              <a:cs typeface="Arial"/>
              <a:sym typeface="Arial"/>
            </a:endParaRPr>
          </a:p>
          <a:p>
            <a:pPr indent="-351948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b="1" lang="ru-RU" sz="2100">
                <a:latin typeface="Arial"/>
                <a:ea typeface="Arial"/>
                <a:cs typeface="Arial"/>
                <a:sym typeface="Arial"/>
              </a:rPr>
              <a:t>Data Cleaning:</a:t>
            </a:r>
            <a:r>
              <a:rPr lang="ru-RU" sz="2100">
                <a:latin typeface="Arial"/>
                <a:ea typeface="Arial"/>
                <a:cs typeface="Arial"/>
                <a:sym typeface="Arial"/>
              </a:rPr>
              <a:t> Removed duplicates, non-English tweets, isolated vaccine-topic tweets; geolocation filtering (USA/UK)</a:t>
            </a:r>
            <a:br>
              <a:rPr lang="ru-RU" sz="2100">
                <a:latin typeface="Arial"/>
                <a:ea typeface="Arial"/>
                <a:cs typeface="Arial"/>
                <a:sym typeface="Arial"/>
              </a:rPr>
            </a:br>
            <a:endParaRPr sz="2100">
              <a:latin typeface="Arial"/>
              <a:ea typeface="Arial"/>
              <a:cs typeface="Arial"/>
              <a:sym typeface="Arial"/>
            </a:endParaRPr>
          </a:p>
          <a:p>
            <a:pPr indent="-351948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b="1" lang="ru-RU" sz="2100">
                <a:latin typeface="Arial"/>
                <a:ea typeface="Arial"/>
                <a:cs typeface="Arial"/>
                <a:sym typeface="Arial"/>
              </a:rPr>
              <a:t>Feature Engineering:</a:t>
            </a:r>
            <a:r>
              <a:rPr lang="ru-RU" sz="2100">
                <a:latin typeface="Arial"/>
                <a:ea typeface="Arial"/>
                <a:cs typeface="Arial"/>
                <a:sym typeface="Arial"/>
              </a:rPr>
              <a:t> Encoded media richness (binary: links present), sentiment (VADER compound score -1 to +1), dialogue (question marks, hashtag count, mention count)</a:t>
            </a:r>
            <a:br>
              <a:rPr lang="ru-RU" sz="2100">
                <a:latin typeface="Arial"/>
                <a:ea typeface="Arial"/>
                <a:cs typeface="Arial"/>
                <a:sym typeface="Arial"/>
              </a:rPr>
            </a:br>
            <a:endParaRPr sz="2100">
              <a:latin typeface="Arial"/>
              <a:ea typeface="Arial"/>
              <a:cs typeface="Arial"/>
              <a:sym typeface="Arial"/>
            </a:endParaRPr>
          </a:p>
          <a:p>
            <a:pPr indent="-351948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b="1" lang="ru-RU" sz="2100">
                <a:latin typeface="Arial"/>
                <a:ea typeface="Arial"/>
                <a:cs typeface="Arial"/>
                <a:sym typeface="Arial"/>
              </a:rPr>
              <a:t>Engagement Metric:</a:t>
            </a:r>
            <a:r>
              <a:rPr lang="ru-RU" sz="2100">
                <a:latin typeface="Arial"/>
                <a:ea typeface="Arial"/>
                <a:cs typeface="Arial"/>
                <a:sym typeface="Arial"/>
              </a:rPr>
              <a:t> Dependent variable = likes + retweets per tweet; right-skewed distribution (0 to 100,000+)</a:t>
            </a:r>
            <a:br>
              <a:rPr lang="ru-RU" sz="2100">
                <a:latin typeface="Arial"/>
                <a:ea typeface="Arial"/>
                <a:cs typeface="Arial"/>
                <a:sym typeface="Arial"/>
              </a:rPr>
            </a:br>
            <a:endParaRPr sz="2100">
              <a:latin typeface="Arial"/>
              <a:ea typeface="Arial"/>
              <a:cs typeface="Arial"/>
              <a:sym typeface="Arial"/>
            </a:endParaRPr>
          </a:p>
          <a:p>
            <a:pPr indent="-351948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b="1" lang="ru-RU" sz="2100">
                <a:latin typeface="Arial"/>
                <a:ea typeface="Arial"/>
                <a:cs typeface="Arial"/>
                <a:sym typeface="Arial"/>
              </a:rPr>
              <a:t>Outcome:</a:t>
            </a:r>
            <a:r>
              <a:rPr lang="ru-RU" sz="2100">
                <a:latin typeface="Arial"/>
                <a:ea typeface="Arial"/>
                <a:cs typeface="Arial"/>
                <a:sym typeface="Arial"/>
              </a:rPr>
              <a:t> Clean dataset with 71,845 observations × 8 features ready for statistical modeling</a:t>
            </a:r>
            <a:endParaRPr sz="2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4516"/>
              <a:buNone/>
            </a:pPr>
            <a:r>
              <a:t/>
            </a:r>
            <a:endParaRPr b="1" sz="3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0"/>
          <p:cNvSpPr txBox="1"/>
          <p:nvPr>
            <p:ph type="title"/>
          </p:nvPr>
        </p:nvSpPr>
        <p:spPr>
          <a:xfrm>
            <a:off x="359375" y="501200"/>
            <a:ext cx="9844800" cy="65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olos Text SemiBold"/>
              <a:buNone/>
            </a:pPr>
            <a:r>
              <a:rPr lang="ru-RU" sz="2800"/>
              <a:t>The Solution Flow: </a:t>
            </a:r>
            <a:r>
              <a:rPr b="1" lang="ru-RU" sz="2800">
                <a:latin typeface="Arial"/>
                <a:ea typeface="Arial"/>
                <a:cs typeface="Arial"/>
                <a:sym typeface="Arial"/>
              </a:rPr>
              <a:t>Statistical Modeling &amp; Results</a:t>
            </a:r>
            <a:endParaRPr sz="2800"/>
          </a:p>
        </p:txBody>
      </p:sp>
      <p:sp>
        <p:nvSpPr>
          <p:cNvPr id="97" name="Google Shape;97;p10"/>
          <p:cNvSpPr txBox="1"/>
          <p:nvPr>
            <p:ph idx="12" type="sldNum"/>
          </p:nvPr>
        </p:nvSpPr>
        <p:spPr>
          <a:xfrm>
            <a:off x="9027269" y="635081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98" name="Google Shape;98;p10"/>
          <p:cNvSpPr txBox="1"/>
          <p:nvPr>
            <p:ph idx="1" type="body"/>
          </p:nvPr>
        </p:nvSpPr>
        <p:spPr>
          <a:xfrm>
            <a:off x="421906" y="1592691"/>
            <a:ext cx="11348100" cy="50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556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2000"/>
              <a:buChar char="●"/>
            </a:pPr>
            <a:r>
              <a:rPr b="1" lang="ru-RU">
                <a:latin typeface="Arial"/>
                <a:ea typeface="Arial"/>
                <a:cs typeface="Arial"/>
                <a:sym typeface="Arial"/>
              </a:rPr>
              <a:t>Model Choice:</a:t>
            </a:r>
            <a:r>
              <a:rPr lang="ru-RU">
                <a:latin typeface="Arial"/>
                <a:ea typeface="Arial"/>
                <a:cs typeface="Arial"/>
                <a:sym typeface="Arial"/>
              </a:rPr>
              <a:t> Negative Binomial regression (count data, not normal distribution)</a:t>
            </a:r>
            <a:br>
              <a:rPr lang="ru-RU">
                <a:latin typeface="Arial"/>
                <a:ea typeface="Arial"/>
                <a:cs typeface="Arial"/>
                <a:sym typeface="Arial"/>
              </a:rPr>
            </a:br>
            <a:endParaRPr>
              <a:latin typeface="Arial"/>
              <a:ea typeface="Arial"/>
              <a:cs typeface="Arial"/>
              <a:sym typeface="Arial"/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b="1" lang="ru-RU">
                <a:latin typeface="Arial"/>
                <a:ea typeface="Arial"/>
                <a:cs typeface="Arial"/>
                <a:sym typeface="Arial"/>
              </a:rPr>
              <a:t>Key Finding #1:</a:t>
            </a:r>
            <a:r>
              <a:rPr lang="ru-RU"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lang="ru-RU">
                <a:latin typeface="Arial"/>
                <a:ea typeface="Arial"/>
                <a:cs typeface="Arial"/>
                <a:sym typeface="Arial"/>
              </a:rPr>
              <a:t>Media richness effect = 3.9× multiplier</a:t>
            </a:r>
            <a:r>
              <a:rPr lang="ru-RU">
                <a:latin typeface="Arial"/>
                <a:ea typeface="Arial"/>
                <a:cs typeface="Arial"/>
                <a:sym typeface="Arial"/>
              </a:rPr>
              <a:t> (exp(β) = 3.9, p &lt; 0.001)</a:t>
            </a:r>
            <a:br>
              <a:rPr lang="ru-RU">
                <a:latin typeface="Arial"/>
                <a:ea typeface="Arial"/>
                <a:cs typeface="Arial"/>
                <a:sym typeface="Arial"/>
              </a:rPr>
            </a:br>
            <a:endParaRPr>
              <a:latin typeface="Arial"/>
              <a:ea typeface="Arial"/>
              <a:cs typeface="Arial"/>
              <a:sym typeface="Arial"/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b="1" lang="ru-RU">
                <a:latin typeface="Arial"/>
                <a:ea typeface="Arial"/>
                <a:cs typeface="Arial"/>
                <a:sym typeface="Arial"/>
              </a:rPr>
              <a:t>Key Finding #2:</a:t>
            </a:r>
            <a:r>
              <a:rPr lang="ru-RU"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lang="ru-RU">
                <a:latin typeface="Arial"/>
                <a:ea typeface="Arial"/>
                <a:cs typeface="Arial"/>
                <a:sym typeface="Arial"/>
              </a:rPr>
              <a:t>Sentiment positivity = 1.31× multiplier</a:t>
            </a:r>
            <a:r>
              <a:rPr lang="ru-RU">
                <a:latin typeface="Arial"/>
                <a:ea typeface="Arial"/>
                <a:cs typeface="Arial"/>
                <a:sym typeface="Arial"/>
              </a:rPr>
              <a:t> per unit (p &lt; 0.001)</a:t>
            </a:r>
            <a:br>
              <a:rPr lang="ru-RU">
                <a:latin typeface="Arial"/>
                <a:ea typeface="Arial"/>
                <a:cs typeface="Arial"/>
                <a:sym typeface="Arial"/>
              </a:rPr>
            </a:br>
            <a:endParaRPr>
              <a:latin typeface="Arial"/>
              <a:ea typeface="Arial"/>
              <a:cs typeface="Arial"/>
              <a:sym typeface="Arial"/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b="1" lang="ru-RU">
                <a:latin typeface="Arial"/>
                <a:ea typeface="Arial"/>
                <a:cs typeface="Arial"/>
                <a:sym typeface="Arial"/>
              </a:rPr>
              <a:t>Key Finding #3:</a:t>
            </a:r>
            <a:r>
              <a:rPr lang="ru-RU"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lang="ru-RU">
                <a:latin typeface="Arial"/>
                <a:ea typeface="Arial"/>
                <a:cs typeface="Arial"/>
                <a:sym typeface="Arial"/>
              </a:rPr>
              <a:t>Questions reduce engagement by 32–68%</a:t>
            </a:r>
            <a:r>
              <a:rPr lang="ru-RU">
                <a:latin typeface="Arial"/>
                <a:ea typeface="Arial"/>
                <a:cs typeface="Arial"/>
                <a:sym typeface="Arial"/>
              </a:rPr>
              <a:t> (p &lt; 0.001)</a:t>
            </a:r>
            <a:br>
              <a:rPr lang="ru-RU">
                <a:latin typeface="Arial"/>
                <a:ea typeface="Arial"/>
                <a:cs typeface="Arial"/>
                <a:sym typeface="Arial"/>
              </a:rPr>
            </a:br>
            <a:endParaRPr>
              <a:latin typeface="Arial"/>
              <a:ea typeface="Arial"/>
              <a:cs typeface="Arial"/>
              <a:sym typeface="Arial"/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b="1" lang="ru-RU">
                <a:latin typeface="Arial"/>
                <a:ea typeface="Arial"/>
                <a:cs typeface="Arial"/>
                <a:sym typeface="Arial"/>
              </a:rPr>
              <a:t>Geographic Variation:</a:t>
            </a:r>
            <a:r>
              <a:rPr lang="ru-RU">
                <a:latin typeface="Arial"/>
                <a:ea typeface="Arial"/>
                <a:cs typeface="Arial"/>
                <a:sym typeface="Arial"/>
              </a:rPr>
              <a:t> UK media effect 3.8× vs USA 1.2× (institutional difference)</a:t>
            </a:r>
            <a:br>
              <a:rPr lang="ru-RU">
                <a:latin typeface="Arial"/>
                <a:ea typeface="Arial"/>
                <a:cs typeface="Arial"/>
                <a:sym typeface="Arial"/>
              </a:rPr>
            </a:br>
            <a:endParaRPr>
              <a:latin typeface="Arial"/>
              <a:ea typeface="Arial"/>
              <a:cs typeface="Arial"/>
              <a:sym typeface="Arial"/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b="1" lang="ru-RU">
                <a:latin typeface="Arial"/>
                <a:ea typeface="Arial"/>
                <a:cs typeface="Arial"/>
                <a:sym typeface="Arial"/>
              </a:rPr>
              <a:t>Robustness Check:</a:t>
            </a:r>
            <a:r>
              <a:rPr lang="ru-RU">
                <a:latin typeface="Arial"/>
                <a:ea typeface="Arial"/>
                <a:cs typeface="Arial"/>
                <a:sym typeface="Arial"/>
              </a:rPr>
              <a:t> Validated sentiment findings with BERT/RoBERTa; direction consistent across methods</a:t>
            </a:r>
            <a:endParaRPr b="1" sz="5765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1"/>
          <p:cNvSpPr txBox="1"/>
          <p:nvPr>
            <p:ph type="title"/>
          </p:nvPr>
        </p:nvSpPr>
        <p:spPr>
          <a:xfrm>
            <a:off x="421532" y="365126"/>
            <a:ext cx="9218579" cy="65627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olos Text SemiBold"/>
              <a:buNone/>
            </a:pPr>
            <a:r>
              <a:rPr lang="ru-RU"/>
              <a:t>Key Results: </a:t>
            </a:r>
            <a:r>
              <a:rPr b="1" lang="ru-RU">
                <a:latin typeface="Arial"/>
                <a:ea typeface="Arial"/>
                <a:cs typeface="Arial"/>
                <a:sym typeface="Arial"/>
              </a:rPr>
              <a:t>Media Richness Impact</a:t>
            </a:r>
            <a:endParaRPr/>
          </a:p>
        </p:txBody>
      </p:sp>
      <p:sp>
        <p:nvSpPr>
          <p:cNvPr id="104" name="Google Shape;104;p11"/>
          <p:cNvSpPr txBox="1"/>
          <p:nvPr>
            <p:ph idx="12" type="sldNum"/>
          </p:nvPr>
        </p:nvSpPr>
        <p:spPr>
          <a:xfrm>
            <a:off x="9027269" y="635081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05" name="Google Shape;105;p11"/>
          <p:cNvSpPr txBox="1"/>
          <p:nvPr>
            <p:ph idx="1" type="body"/>
          </p:nvPr>
        </p:nvSpPr>
        <p:spPr>
          <a:xfrm>
            <a:off x="421956" y="1157516"/>
            <a:ext cx="11348100" cy="5558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t/>
            </a:r>
            <a:endParaRPr/>
          </a:p>
        </p:txBody>
      </p:sp>
      <p:pic>
        <p:nvPicPr>
          <p:cNvPr id="106" name="Google Shape;106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59650" y="1436925"/>
            <a:ext cx="9394900" cy="485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30ea3ceee_0_18"/>
          <p:cNvSpPr txBox="1"/>
          <p:nvPr>
            <p:ph type="title"/>
          </p:nvPr>
        </p:nvSpPr>
        <p:spPr>
          <a:xfrm>
            <a:off x="421532" y="365126"/>
            <a:ext cx="9218700" cy="65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olos Text SemiBold"/>
              <a:buNone/>
            </a:pPr>
            <a:r>
              <a:rPr lang="ru-RU"/>
              <a:t>Key Results: </a:t>
            </a:r>
            <a:r>
              <a:rPr b="1" lang="ru-RU">
                <a:latin typeface="Arial"/>
                <a:ea typeface="Arial"/>
                <a:cs typeface="Arial"/>
                <a:sym typeface="Arial"/>
              </a:rPr>
              <a:t>Temporal Evolution (13 Weeks)</a:t>
            </a:r>
            <a:endParaRPr/>
          </a:p>
        </p:txBody>
      </p:sp>
      <p:sp>
        <p:nvSpPr>
          <p:cNvPr id="112" name="Google Shape;112;g3a30ea3ceee_0_18"/>
          <p:cNvSpPr txBox="1"/>
          <p:nvPr>
            <p:ph idx="12" type="sldNum"/>
          </p:nvPr>
        </p:nvSpPr>
        <p:spPr>
          <a:xfrm>
            <a:off x="9027269" y="635081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13" name="Google Shape;113;g3a30ea3ceee_0_18"/>
          <p:cNvSpPr txBox="1"/>
          <p:nvPr>
            <p:ph idx="1" type="body"/>
          </p:nvPr>
        </p:nvSpPr>
        <p:spPr>
          <a:xfrm>
            <a:off x="421956" y="1157516"/>
            <a:ext cx="11348100" cy="5558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t/>
            </a:r>
            <a:endParaRPr b="1" sz="1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t/>
            </a:r>
            <a:endParaRPr b="1" sz="1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t/>
            </a:r>
            <a:endParaRPr b="1" sz="1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t/>
            </a:r>
            <a:endParaRPr b="1" sz="1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t/>
            </a:r>
            <a:endParaRPr b="1" sz="1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t/>
            </a:r>
            <a:endParaRPr b="1" sz="1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t/>
            </a:r>
            <a:endParaRPr b="1" sz="1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t/>
            </a:r>
            <a:endParaRPr b="1" sz="1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t/>
            </a:r>
            <a:endParaRPr b="1" sz="1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t/>
            </a:r>
            <a:endParaRPr b="1" sz="1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t/>
            </a:r>
            <a:endParaRPr b="1" sz="1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t/>
            </a:r>
            <a:endParaRPr b="1" sz="1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t/>
            </a:r>
            <a:endParaRPr b="1" sz="1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t/>
            </a:r>
            <a:endParaRPr b="1" sz="1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t/>
            </a:r>
            <a:endParaRPr b="1" sz="1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t/>
            </a:r>
            <a:endParaRPr b="1" sz="1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t/>
            </a:r>
            <a:endParaRPr b="1" sz="1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t/>
            </a:r>
            <a:endParaRPr b="1" sz="1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br>
              <a:rPr b="1" lang="ru-RU" sz="1500">
                <a:latin typeface="Arial"/>
                <a:ea typeface="Arial"/>
                <a:cs typeface="Arial"/>
                <a:sym typeface="Arial"/>
              </a:rPr>
            </a:br>
            <a:r>
              <a:rPr b="1" lang="ru-RU" sz="1500">
                <a:latin typeface="Arial"/>
                <a:ea typeface="Arial"/>
                <a:cs typeface="Arial"/>
                <a:sym typeface="Arial"/>
              </a:rPr>
              <a:t>Achievement:</a:t>
            </a:r>
            <a:r>
              <a:rPr lang="ru-RU" sz="1500">
                <a:latin typeface="Arial"/>
                <a:ea typeface="Arial"/>
                <a:cs typeface="Arial"/>
                <a:sym typeface="Arial"/>
              </a:rPr>
              <a:t> Demonstrated that engagement dynamics shift across crisis phases</a:t>
            </a:r>
            <a:endParaRPr b="1" sz="15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4" name="Google Shape;114;g3a30ea3ceee_0_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0625" y="1417451"/>
            <a:ext cx="10550774" cy="47809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b38da55f87_0_15"/>
          <p:cNvSpPr txBox="1"/>
          <p:nvPr>
            <p:ph type="title"/>
          </p:nvPr>
        </p:nvSpPr>
        <p:spPr>
          <a:xfrm>
            <a:off x="421532" y="365126"/>
            <a:ext cx="9218700" cy="65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ru-RU">
                <a:latin typeface="Arial"/>
                <a:ea typeface="Arial"/>
                <a:cs typeface="Arial"/>
                <a:sym typeface="Arial"/>
              </a:rPr>
              <a:t>Key Results: Sentiment Positivity Impact</a:t>
            </a:r>
            <a:endParaRPr/>
          </a:p>
        </p:txBody>
      </p:sp>
      <p:sp>
        <p:nvSpPr>
          <p:cNvPr id="120" name="Google Shape;120;g3b38da55f87_0_15"/>
          <p:cNvSpPr txBox="1"/>
          <p:nvPr>
            <p:ph idx="12" type="sldNum"/>
          </p:nvPr>
        </p:nvSpPr>
        <p:spPr>
          <a:xfrm>
            <a:off x="9027269" y="635081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21" name="Google Shape;121;g3b38da55f87_0_15"/>
          <p:cNvSpPr txBox="1"/>
          <p:nvPr>
            <p:ph idx="1" type="body"/>
          </p:nvPr>
        </p:nvSpPr>
        <p:spPr>
          <a:xfrm>
            <a:off x="421956" y="1157516"/>
            <a:ext cx="11348100" cy="5558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b="1" sz="15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2" name="Google Shape;122;g3b38da55f87_0_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32" y="1269763"/>
            <a:ext cx="9143925" cy="5333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3"/>
          <p:cNvSpPr txBox="1"/>
          <p:nvPr>
            <p:ph type="title"/>
          </p:nvPr>
        </p:nvSpPr>
        <p:spPr>
          <a:xfrm>
            <a:off x="421532" y="365126"/>
            <a:ext cx="9218700" cy="65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olos Text SemiBold"/>
              <a:buNone/>
            </a:pPr>
            <a:r>
              <a:rPr lang="ru-RU"/>
              <a:t>Expected Results (</a:t>
            </a:r>
            <a:r>
              <a:rPr b="1" lang="ru-RU" sz="2400">
                <a:latin typeface="Arial"/>
                <a:ea typeface="Arial"/>
                <a:cs typeface="Arial"/>
                <a:sym typeface="Arial"/>
              </a:rPr>
              <a:t>Semester 4 Completion</a:t>
            </a:r>
            <a:r>
              <a:rPr lang="ru-RU">
                <a:highlight>
                  <a:schemeClr val="lt1"/>
                </a:highlight>
              </a:rPr>
              <a:t>)</a:t>
            </a:r>
            <a:endParaRPr>
              <a:highlight>
                <a:schemeClr val="lt1"/>
              </a:highlight>
            </a:endParaRPr>
          </a:p>
        </p:txBody>
      </p:sp>
      <p:sp>
        <p:nvSpPr>
          <p:cNvPr id="128" name="Google Shape;128;p13"/>
          <p:cNvSpPr txBox="1"/>
          <p:nvPr>
            <p:ph idx="12" type="sldNum"/>
          </p:nvPr>
        </p:nvSpPr>
        <p:spPr>
          <a:xfrm>
            <a:off x="9027269" y="635081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29" name="Google Shape;129;p13"/>
          <p:cNvSpPr txBox="1"/>
          <p:nvPr>
            <p:ph idx="1" type="body"/>
          </p:nvPr>
        </p:nvSpPr>
        <p:spPr>
          <a:xfrm>
            <a:off x="421906" y="1426941"/>
            <a:ext cx="11348100" cy="50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36550" lvl="0" marL="45720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1700"/>
              <a:buChar char="●"/>
            </a:pPr>
            <a:r>
              <a:rPr b="1" lang="ru-RU" sz="1700">
                <a:latin typeface="Arial"/>
                <a:ea typeface="Arial"/>
                <a:cs typeface="Arial"/>
                <a:sym typeface="Arial"/>
              </a:rPr>
              <a:t>Extended Analysis:</a:t>
            </a:r>
            <a:r>
              <a:rPr lang="ru-RU" sz="1700">
                <a:latin typeface="Arial"/>
                <a:ea typeface="Arial"/>
                <a:cs typeface="Arial"/>
                <a:sym typeface="Arial"/>
              </a:rPr>
              <a:t> Temporal dynamics across all 13 weeks; interaction effects (media × sentiment); separate analysis by account type (official vs. influencer)</a:t>
            </a:r>
            <a:br>
              <a:rPr lang="ru-RU" sz="1700">
                <a:latin typeface="Arial"/>
                <a:ea typeface="Arial"/>
                <a:cs typeface="Arial"/>
                <a:sym typeface="Arial"/>
              </a:rPr>
            </a:b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b="1" lang="ru-RU" sz="1700">
                <a:latin typeface="Arial"/>
                <a:ea typeface="Arial"/>
                <a:cs typeface="Arial"/>
                <a:sym typeface="Arial"/>
              </a:rPr>
              <a:t>Qualitative Case Studies:</a:t>
            </a:r>
            <a:r>
              <a:rPr lang="ru-RU" sz="1700">
                <a:latin typeface="Arial"/>
                <a:ea typeface="Arial"/>
                <a:cs typeface="Arial"/>
                <a:sym typeface="Arial"/>
              </a:rPr>
              <a:t> High-engagement vs. low-engagement tweet comparison; narrative analysis of successful health messaging</a:t>
            </a:r>
            <a:br>
              <a:rPr lang="ru-RU" sz="1700">
                <a:latin typeface="Arial"/>
                <a:ea typeface="Arial"/>
                <a:cs typeface="Arial"/>
                <a:sym typeface="Arial"/>
              </a:rPr>
            </a:b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b="1" lang="ru-RU" sz="1700">
                <a:latin typeface="Arial"/>
                <a:ea typeface="Arial"/>
                <a:cs typeface="Arial"/>
                <a:sym typeface="Arial"/>
              </a:rPr>
              <a:t>Cross-Platform Insights:</a:t>
            </a:r>
            <a:r>
              <a:rPr lang="ru-RU" sz="1700">
                <a:latin typeface="Arial"/>
                <a:ea typeface="Arial"/>
                <a:cs typeface="Arial"/>
                <a:sym typeface="Arial"/>
              </a:rPr>
              <a:t> Comparison of Twitter findings with Chinese Weibo research to explain dialogue contradictions</a:t>
            </a:r>
            <a:br>
              <a:rPr lang="ru-RU" sz="1700">
                <a:latin typeface="Arial"/>
                <a:ea typeface="Arial"/>
                <a:cs typeface="Arial"/>
                <a:sym typeface="Arial"/>
              </a:rPr>
            </a:b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b="1" lang="ru-RU" sz="1700">
                <a:latin typeface="Arial"/>
                <a:ea typeface="Arial"/>
                <a:cs typeface="Arial"/>
                <a:sym typeface="Arial"/>
              </a:rPr>
              <a:t>Policy Recommendations:</a:t>
            </a:r>
            <a:r>
              <a:rPr lang="ru-RU" sz="1700">
                <a:latin typeface="Arial"/>
                <a:ea typeface="Arial"/>
                <a:cs typeface="Arial"/>
                <a:sym typeface="Arial"/>
              </a:rPr>
              <a:t> Actionable guidelines for health authorities on multimedia prioritization, framing strategy, dialogue channel separation</a:t>
            </a:r>
            <a:br>
              <a:rPr lang="ru-RU" sz="1700">
                <a:latin typeface="Arial"/>
                <a:ea typeface="Arial"/>
                <a:cs typeface="Arial"/>
                <a:sym typeface="Arial"/>
              </a:rPr>
            </a:b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b="1" lang="ru-RU" sz="1700">
                <a:latin typeface="Arial"/>
                <a:ea typeface="Arial"/>
                <a:cs typeface="Arial"/>
                <a:sym typeface="Arial"/>
              </a:rPr>
              <a:t>Publication Target:</a:t>
            </a:r>
            <a:r>
              <a:rPr lang="ru-RU" sz="1700">
                <a:latin typeface="Arial"/>
                <a:ea typeface="Arial"/>
                <a:cs typeface="Arial"/>
                <a:sym typeface="Arial"/>
              </a:rPr>
              <a:t> Academic journal submission (Journal of Public Relations Research, Computers in Human Behavior, or Health Communication)</a:t>
            </a:r>
            <a:br>
              <a:rPr lang="ru-RU" sz="1700">
                <a:latin typeface="Arial"/>
                <a:ea typeface="Arial"/>
                <a:cs typeface="Arial"/>
                <a:sym typeface="Arial"/>
              </a:rPr>
            </a:b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b="1" lang="ru-RU" sz="1700">
                <a:latin typeface="Arial"/>
                <a:ea typeface="Arial"/>
                <a:cs typeface="Arial"/>
                <a:sym typeface="Arial"/>
              </a:rPr>
              <a:t>Thesis Completion:</a:t>
            </a:r>
            <a:r>
              <a:rPr lang="ru-RU" sz="1700">
                <a:latin typeface="Arial"/>
                <a:ea typeface="Arial"/>
                <a:cs typeface="Arial"/>
                <a:sym typeface="Arial"/>
              </a:rPr>
              <a:t> Full Master's thesis (~18,000 words) with complete literature review</a:t>
            </a: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t/>
            </a:r>
            <a:endParaRPr b="1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4"/>
          <p:cNvSpPr txBox="1"/>
          <p:nvPr>
            <p:ph type="title"/>
          </p:nvPr>
        </p:nvSpPr>
        <p:spPr>
          <a:xfrm>
            <a:off x="421532" y="365126"/>
            <a:ext cx="9218579" cy="65627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olos Text SemiBold"/>
              <a:buNone/>
            </a:pPr>
            <a:r>
              <a:rPr lang="ru-RU"/>
              <a:t>Conclusion</a:t>
            </a:r>
            <a:endParaRPr/>
          </a:p>
        </p:txBody>
      </p:sp>
      <p:sp>
        <p:nvSpPr>
          <p:cNvPr id="135" name="Google Shape;135;p14"/>
          <p:cNvSpPr txBox="1"/>
          <p:nvPr>
            <p:ph idx="12" type="sldNum"/>
          </p:nvPr>
        </p:nvSpPr>
        <p:spPr>
          <a:xfrm>
            <a:off x="9027269" y="635081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36" name="Google Shape;136;p14"/>
          <p:cNvSpPr txBox="1"/>
          <p:nvPr>
            <p:ph idx="1" type="body"/>
          </p:nvPr>
        </p:nvSpPr>
        <p:spPr>
          <a:xfrm>
            <a:off x="421525" y="1491775"/>
            <a:ext cx="11348100" cy="49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br>
              <a:rPr b="1" lang="ru-RU" sz="1600">
                <a:latin typeface="Arial"/>
                <a:ea typeface="Arial"/>
                <a:cs typeface="Arial"/>
                <a:sym typeface="Arial"/>
              </a:rPr>
            </a:br>
            <a:r>
              <a:rPr b="1" lang="ru-RU" sz="1600">
                <a:latin typeface="Arial"/>
                <a:ea typeface="Arial"/>
                <a:cs typeface="Arial"/>
                <a:sym typeface="Arial"/>
              </a:rPr>
              <a:t>Work Completed (Semester 3):</a:t>
            </a:r>
            <a:r>
              <a:rPr lang="ru-RU" sz="1600">
                <a:latin typeface="Arial"/>
                <a:ea typeface="Arial"/>
                <a:cs typeface="Arial"/>
                <a:sym typeface="Arial"/>
              </a:rPr>
              <a:t> Comprehensive literature review, large-scale data collection (71,845 tweets), feature engineering, statistical modeling, robustness validation</a:t>
            </a:r>
            <a:br>
              <a:rPr lang="ru-RU" sz="1600">
                <a:latin typeface="Arial"/>
                <a:ea typeface="Arial"/>
                <a:cs typeface="Arial"/>
                <a:sym typeface="Arial"/>
              </a:rPr>
            </a:b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ru-RU" sz="1600">
                <a:latin typeface="Arial"/>
                <a:ea typeface="Arial"/>
                <a:cs typeface="Arial"/>
                <a:sym typeface="Arial"/>
              </a:rPr>
              <a:t>Key Achievement:</a:t>
            </a:r>
            <a:r>
              <a:rPr lang="ru-RU" sz="1600">
                <a:latin typeface="Arial"/>
                <a:ea typeface="Arial"/>
                <a:cs typeface="Arial"/>
                <a:sym typeface="Arial"/>
              </a:rPr>
              <a:t> Identified and quantified three communication mechanisms (media richness 3.9×, sentiment 1.31×, dialogue -32–68%) driving engagement in pandemic crises</a:t>
            </a:r>
            <a:br>
              <a:rPr lang="ru-RU" sz="1600">
                <a:latin typeface="Arial"/>
                <a:ea typeface="Arial"/>
                <a:cs typeface="Arial"/>
                <a:sym typeface="Arial"/>
              </a:rPr>
            </a:b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ru-RU" sz="1600">
                <a:latin typeface="Arial"/>
                <a:ea typeface="Arial"/>
                <a:cs typeface="Arial"/>
                <a:sym typeface="Arial"/>
              </a:rPr>
              <a:t>Scientific Contribution:</a:t>
            </a:r>
            <a:r>
              <a:rPr lang="ru-RU" sz="1600">
                <a:latin typeface="Arial"/>
                <a:ea typeface="Arial"/>
                <a:cs typeface="Arial"/>
                <a:sym typeface="Arial"/>
              </a:rPr>
              <a:t> Extended Media Richness Theory to pandemic communication; contextualized Dialogic Communication Theory; revealed institutional/cultural moderation of effectiveness</a:t>
            </a:r>
            <a:br>
              <a:rPr lang="ru-RU" sz="1600">
                <a:latin typeface="Arial"/>
                <a:ea typeface="Arial"/>
                <a:cs typeface="Arial"/>
                <a:sym typeface="Arial"/>
              </a:rPr>
            </a:b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ru-RU" sz="1600">
                <a:latin typeface="Arial"/>
                <a:ea typeface="Arial"/>
                <a:cs typeface="Arial"/>
                <a:sym typeface="Arial"/>
              </a:rPr>
              <a:t>Practical Impact:</a:t>
            </a:r>
            <a:r>
              <a:rPr lang="ru-RU" sz="1600">
                <a:latin typeface="Arial"/>
                <a:ea typeface="Arial"/>
                <a:cs typeface="Arial"/>
                <a:sym typeface="Arial"/>
              </a:rPr>
              <a:t> Findings directly inform pandemic response strategy; can improve resource allocation for health authorities in future crises</a:t>
            </a:r>
            <a:br>
              <a:rPr lang="ru-RU" sz="1600">
                <a:latin typeface="Arial"/>
                <a:ea typeface="Arial"/>
                <a:cs typeface="Arial"/>
                <a:sym typeface="Arial"/>
              </a:rPr>
            </a:b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ru-RU" sz="1600">
                <a:latin typeface="Arial"/>
                <a:ea typeface="Arial"/>
                <a:cs typeface="Arial"/>
                <a:sym typeface="Arial"/>
              </a:rPr>
              <a:t>Future Directions:</a:t>
            </a:r>
            <a:r>
              <a:rPr lang="ru-RU" sz="1600">
                <a:latin typeface="Arial"/>
                <a:ea typeface="Arial"/>
                <a:cs typeface="Arial"/>
                <a:sym typeface="Arial"/>
              </a:rPr>
              <a:t> Expand to other health topics, platforms, languages; conduct interventional studies; refine theory for cross-context applicability</a:t>
            </a:r>
            <a:br>
              <a:rPr lang="ru-RU" sz="1600">
                <a:latin typeface="Arial"/>
                <a:ea typeface="Arial"/>
                <a:cs typeface="Arial"/>
                <a:sym typeface="Arial"/>
              </a:rPr>
            </a:b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ru-RU" sz="1300">
                <a:latin typeface="Arial"/>
                <a:ea typeface="Arial"/>
                <a:cs typeface="Arial"/>
                <a:sym typeface="Arial"/>
              </a:rPr>
              <a:t>"Understanding what makes health communication effective on social media is critical for future pandemic preparedness."</a:t>
            </a:r>
            <a:endParaRPr i="1" sz="13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t/>
            </a:r>
            <a:endParaRPr b="1" sz="1150">
              <a:solidFill>
                <a:srgbClr val="38BDF8"/>
              </a:solidFill>
              <a:highlight>
                <a:srgbClr val="0F172A"/>
              </a:highlight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2025-10-08T10:34:53Z</dcterms:created>
  <dc:creator>Цветкова Екатерина Андреевна</dc:creator>
</cp:coreProperties>
</file>